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</p:sldIdLst>
  <p:sldSz cy="51435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  <p:embeddedFont>
      <p:font typeface="Fira Sans Medium"/>
      <p:regular r:id="rId62"/>
      <p:bold r:id="rId63"/>
      <p:italic r:id="rId64"/>
      <p:boldItalic r:id="rId65"/>
    </p:embeddedFont>
    <p:embeddedFont>
      <p:font typeface="Fira Sans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BCD8CC-05F8-4146-BC7A-927B90F4ACF6}">
  <a:tblStyle styleId="{91BCD8CC-05F8-4146-BC7A-927B90F4AC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FiraSansMedium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2.xml"/><Relationship Id="rId64" Type="http://schemas.openxmlformats.org/officeDocument/2006/relationships/font" Target="fonts/FiraSansMedium-italic.fntdata"/><Relationship Id="rId63" Type="http://schemas.openxmlformats.org/officeDocument/2006/relationships/font" Target="fonts/FiraSansMedium-bold.fntdata"/><Relationship Id="rId22" Type="http://schemas.openxmlformats.org/officeDocument/2006/relationships/slide" Target="slides/slide14.xml"/><Relationship Id="rId66" Type="http://schemas.openxmlformats.org/officeDocument/2006/relationships/font" Target="fonts/FiraSans-regular.fntdata"/><Relationship Id="rId21" Type="http://schemas.openxmlformats.org/officeDocument/2006/relationships/slide" Target="slides/slide13.xml"/><Relationship Id="rId65" Type="http://schemas.openxmlformats.org/officeDocument/2006/relationships/font" Target="fonts/FiraSansMedium-boldItalic.fntdata"/><Relationship Id="rId24" Type="http://schemas.openxmlformats.org/officeDocument/2006/relationships/slide" Target="slides/slide16.xml"/><Relationship Id="rId68" Type="http://schemas.openxmlformats.org/officeDocument/2006/relationships/font" Target="fonts/FiraSans-italic.fntdata"/><Relationship Id="rId23" Type="http://schemas.openxmlformats.org/officeDocument/2006/relationships/slide" Target="slides/slide15.xml"/><Relationship Id="rId67" Type="http://schemas.openxmlformats.org/officeDocument/2006/relationships/font" Target="fonts/FiraSans-bold.fntdata"/><Relationship Id="rId60" Type="http://schemas.openxmlformats.org/officeDocument/2006/relationships/font" Target="fonts/Roboto-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FiraSans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font" Target="fonts/Roboto-bold.fntdata"/><Relationship Id="rId14" Type="http://schemas.openxmlformats.org/officeDocument/2006/relationships/slide" Target="slides/slide6.xml"/><Relationship Id="rId58" Type="http://schemas.openxmlformats.org/officeDocument/2006/relationships/font" Target="fonts/Roboto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f58c5d9079_7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1f58c5d9079_7_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f58c5d9079_7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1f58c5d9079_7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cd634d7bc0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2cd634d7bc0_3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d634d7bc0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2cd634d7bc0_3_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f58c5d9079_7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1f58c5d9079_7_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d02a2c52c_5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2cd02a2c52c_5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cd634d7bc0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cd634d7bc0_4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cd634d7bc0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cd634d7bc0_3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cd634d7bc0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2cd634d7bc0_8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cd634d7bc0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2cd634d7bc0_4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cd02a2c52c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cd02a2c52c_5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6eaa08e8e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26eaa08e8e9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cd02a2c52c_5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2cd02a2c52c_5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6eaa08e8e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26eaa08e8e9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6eaa08e8e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6eaa08e8e9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6eaa08e8e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26eaa08e8e9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cd02a2c52c_5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2cd02a2c52c_5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cd02a2c52c_5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2cd02a2c52c_5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cd634d7bc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2cd634d7bc0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cd02a2c52c_5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2cd02a2c52c_5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6eaa08e8e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26eaa08e8e9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6eaa08e8e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26eaa08e8e9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6eaa08e8e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26eaa08e8e9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6eaa08e8e9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26eaa08e8e9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6eaa08e8e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26eaa08e8e9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6eaa08e8e9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26eaa08e8e9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cd634d7bc0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2cd634d7bc0_4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cd02a2c52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cd02a2c52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6e8f46118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6e8f46118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cd02a2c52c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cd02a2c52c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6e8f46118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6e8f46118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ccac46ab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앞서 보신 내용에서 나왔듯이 인도 이커머스 시장에서 점유율이 높은 플립카트가 아마존보다 더 많은 웨어하우스를 보유하고 있을 가능성이 높고, 아마존은 보다 효율적인 배송 및 고객 서비스를 제공하기 위해 새로운 웨어하우스 위치를 찾는 것이 필요할 수 있다고 생각 하게되어 웨어하우스 위치 제안 분석을 들여다 보게 됨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먼저 인도의 이커머스 동향과 경쟁 업체의 활동에 대한 분석이 필요했고. 플립카트와 같은 경쟁 업체가 인도에서 더 많은 시장 점유율을 보유하는 이유도 이해하고, 이에 </a:t>
            </a:r>
            <a:r>
              <a:rPr lang="ko" sz="1200">
                <a:solidFill>
                  <a:schemeClr val="dk1"/>
                </a:solidFill>
              </a:rPr>
              <a:t>대응해서</a:t>
            </a:r>
            <a:r>
              <a:rPr lang="ko" sz="1200">
                <a:solidFill>
                  <a:schemeClr val="dk1"/>
                </a:solidFill>
              </a:rPr>
              <a:t> 아마존이 자체적인 배송 인프라를 확대하고 개선할 수 있는 새로운 웨어하우스 위치를 제안하는 것이 중요하다고 생각되었고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먼저 플립카트와 아마존의 웨어하우스 위치를 파악하고, 어느 지역에 매출량이 많은지, 그 매출량을 더 늘리기 위해 어떤 노력을 해야하는지 생각도 해봤습니다,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웨어하우스 위치를 제안하고 추가 설치함으로서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빠른배송,</a:t>
            </a:r>
            <a:r>
              <a:rPr lang="ko" sz="1200">
                <a:solidFill>
                  <a:schemeClr val="dk1"/>
                </a:solidFill>
              </a:rPr>
              <a:t> 제품다양성을 늘리 수 있고, 운송비용절감 등 장점이 늘어남으로서 </a:t>
            </a:r>
            <a:r>
              <a:rPr lang="ko" sz="1300"/>
              <a:t>아마존이 인도 이커머스에서 시장 점유율을 늘릴 수 있다고생각함 </a:t>
            </a:r>
            <a:endParaRPr sz="1300"/>
          </a:p>
        </p:txBody>
      </p:sp>
      <p:sp>
        <p:nvSpPr>
          <p:cNvPr id="666" name="Google Shape;666;g2ccac46ab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ccac46abe1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제가 사용한 데이터는 아마존인디아 세일즈 데이터와 아마존/플립카트 웨어하우스 정보 데이터 이고 먼저 데이터 전처리 과정에서 아마존 세일즈 데이터에서는 ㅇㄴㄴ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웨어하우스 데이터 전처리는 ㅇㅎㄹㄴㅇㄹㅎ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저희가 구글맵을 통해서 직접 크롤링해서 들고온 아마존 웨어하우스 위치 데이터와 플립카트 데이터 전처리는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인도에 총 28개 주와 8개의 유니언 테리토리라는 자치구같은 (델리 등) 있는데 영어표기와 인도내에서 부르는 이름이 달라서 데이터 정리를 해줘야 했음.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먼</a:t>
            </a:r>
            <a:r>
              <a:rPr lang="ko"/>
              <a:t>저 </a:t>
            </a:r>
            <a:r>
              <a:rPr lang="ko"/>
              <a:t>세일</a:t>
            </a:r>
            <a:r>
              <a:rPr lang="ko"/>
              <a:t>즈 데이터의 기간은 총 4,5,6월 3개월의 주문정보가 적혀있었는데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이것을 주별 오더Id로 주문량을 합산해서 어떤 주 오더량이 가장많은지 먼저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아마존 웨어하우스 위치 데이터로 아마존이 현재 어디 웨어하우스를 가지고 있는지파악을 했고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또 한 주에 웨어하우스가 여러개가 있는경우도 있어서 웨어하우스당 오더량도 알아봄 </a:t>
            </a:r>
            <a:endParaRPr/>
          </a:p>
        </p:txBody>
      </p:sp>
      <p:sp>
        <p:nvSpPr>
          <p:cNvPr id="682" name="Google Shape;682;g2ccac46abe1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ccac46abe1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 파이차트는 </a:t>
            </a:r>
            <a:r>
              <a:rPr lang="ko"/>
              <a:t>주문량</a:t>
            </a:r>
            <a:r>
              <a:rPr lang="ko"/>
              <a:t>이 가장 많은 15개의 주만 뽑아본 파이차트이고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기사에서 보면 인도는 인구가 워낙많기때문에 이커머스 마켓이 점점 더 커질거라는 옟,ㅡ 나타났는데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사람이 많을수록 주문이 많아지는건 시간문제라고 생각이되어서 각 주별 인구데이터도 가져와서 주 당 총 주문합산량 옆에 인구수도 나타내서 인구가 많을 수록 주문량이 많은지 살펴봤고</a:t>
            </a:r>
            <a:endParaRPr/>
          </a:p>
        </p:txBody>
      </p:sp>
      <p:sp>
        <p:nvSpPr>
          <p:cNvPr id="695" name="Google Shape;695;g2ccac46abe1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ccac46abe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주문량</a:t>
            </a:r>
            <a:r>
              <a:rPr lang="ko"/>
              <a:t>과 인구수를 비교해서 </a:t>
            </a:r>
            <a:r>
              <a:rPr lang="ko"/>
              <a:t>살</a:t>
            </a:r>
            <a:r>
              <a:rPr lang="ko"/>
              <a:t>펴 본 결과 사람이 많을 수록 주문량이 높아지는건 맞지만 꼭 그런건 아니라는걸 바차트를 통해서 알 수 있었음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옆에 지도는 </a:t>
            </a:r>
            <a:r>
              <a:rPr lang="ko">
                <a:solidFill>
                  <a:schemeClr val="dk1"/>
                </a:solidFill>
              </a:rPr>
              <a:t>geopy를 이용서 집코드를 통해 위도 경도를 가져와서 총주문량을 나타내는 맵을 불러옴</a:t>
            </a:r>
            <a:endParaRPr/>
          </a:p>
        </p:txBody>
      </p:sp>
      <p:sp>
        <p:nvSpPr>
          <p:cNvPr id="708" name="Google Shape;708;g2ccac46abe1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cd02a2c52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인도 이커머스 시장 점유율이 플립카드 60프로, 아마존 30프로 여서 아마존 보다 점유율이 높은 플립카트 웨어하우스의 위치도 살펴보았는데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플립카드 웨어하우스는 있지만 아마존 웨어하우스가 없는 지역1 - rajistan</a:t>
            </a:r>
            <a:r>
              <a:rPr lang="ko"/>
              <a:t>이라는 지역이고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플립카트가 여기에 웨어하우스를 지은 이유를 이해하려고 아마존 데이터 내에서 총주문량과, 인구수를 보니 주문량도 많았고 인구수도 많았다는것을 알수 있었습니다.</a:t>
            </a:r>
            <a:endParaRPr/>
          </a:p>
        </p:txBody>
      </p:sp>
      <p:sp>
        <p:nvSpPr>
          <p:cNvPr id="721" name="Google Shape;721;g2cd02a2c52c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ccac46abe1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그래서 이것버것 살펴 본 후에 내린 제안 할만한 곳의 조건은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프렌테이션엔 나타나진 않지만 대쉬보드에 구현 해 놓은 맵에 마우스로 허버오버 하면 주에관한 주문량, 인구수, 웨어하우스 위치가 나오는 인터액티브 맵을 만들어봄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4" name="Google Shape;734;g2ccac46abe1_3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ccac46abe1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웨어하우</a:t>
            </a:r>
            <a:r>
              <a:rPr lang="ko"/>
              <a:t>스 위치 제안분석을 하면서 </a:t>
            </a:r>
            <a:r>
              <a:rPr lang="ko">
                <a:solidFill>
                  <a:schemeClr val="dk1"/>
                </a:solidFill>
              </a:rPr>
              <a:t>추가적으로 </a:t>
            </a:r>
            <a:r>
              <a:rPr lang="ko"/>
              <a:t>세일즈 데이터에 나와있는 짚코드도 살펴보았는데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각 오더ID당 집코드와 그 집코드와 가장 가까운 아마존 웨어하우스의 위치 거리르 계산해서 카테고리르 4단계로 나눴고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1- 10키로 이내 가까움, 4 는 250키로 이상 멂. 으로 나눠서 카테고리를 만들고 위치카테고리에 따른 취소율을 살펴봤는데 </a:t>
            </a:r>
            <a:endParaRPr/>
          </a:p>
        </p:txBody>
      </p:sp>
      <p:sp>
        <p:nvSpPr>
          <p:cNvPr id="746" name="Google Shape;746;g2ccac46abe1_0_3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ccac46abe1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웨어하우스와</a:t>
            </a:r>
            <a:r>
              <a:rPr lang="ko"/>
              <a:t>의 거리와 </a:t>
            </a:r>
            <a:r>
              <a:rPr lang="ko"/>
              <a:t>취소율</a:t>
            </a:r>
            <a:r>
              <a:rPr lang="ko"/>
              <a:t>의 상관관계가 높지않아 분석 진행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</p:txBody>
      </p:sp>
      <p:sp>
        <p:nvSpPr>
          <p:cNvPr id="758" name="Google Shape;758;g2ccac46abe1_3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ccac46abe1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집코드 외에도 풀필먼트 타입도 살펴봤는데, </a:t>
            </a: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풀필먼트는 </a:t>
            </a: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아마존의 제품 출하 및 배송 프로세스를 관리하는 중심 지점이고 주문 제품의 수령, 보관, 포장, 발송 등을 담당하며, 아마존의 고객들에게 신속하고 효율적인 배송을 제공하는 서비스입이고 아마존의 고객 서비스와 제품 배송 프로세스를 지원하기 위해 전 세계적으로 운영되는 대규모 창고 시스템이여서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웨어하우스 위치가 아주 중요합니다 그래서 추가로 살펴봤는데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풀필먼트 타입 아마존, 판매자로 나눠서 취소율을 비교 해 봤는데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 판매자가 직접 배송을 해주는 것보다 아마존 직접배송이 5%가량 취소율이 낮은걸로 나왔고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이 말은 웨어하우스를 추가 설치를해서 판매자 배송대신 아마존이 풀필먼트를 총해 배송하게 된다면 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배송 취소율을 줄일수 있다는 장점과 더불어 더욱 빠른배송을 제공할 수있어 매출율 상승에 큰 효과를 기대해볼 수 있을것으로 보였습니다.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ko" sz="1200">
                <a:solidFill>
                  <a:srgbClr val="0D0D0D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 위치제안 분석은 여기까지</a:t>
            </a:r>
            <a:endParaRPr sz="1200">
              <a:solidFill>
                <a:srgbClr val="0D0D0D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g2ccac46abe1_3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cd02a2c52c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2cd02a2c52c_8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6ea9e48c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26ea9e48c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cd02a2c52c_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2cd02a2c52c_8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cd261f6f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2cd261f6f4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cd634d7bc0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2cd634d7bc0_4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cd02a2c52c_8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고객 만족도 향상: 핵심 소비자 중심지에 창고를 전략적으로 위치시킴으로써 배송 시간을 단축시킬 수 있어 고객 만족도와 충성도를 높일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비용 최적화: 운송 경로와 인구 밀도에 대한 데이터 분석을 통해 창고에 대한 경제적 위치를 식별함으로써 물류를 최적화하고 운영 비용을 줄일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시장 확장: 수요가 높은 서비스되지 않은 지역을 식별하여 해당 지역에 창고를 설치함으로써 아마존은 시장 영역을 확장할 수 있으며, 이는 이전에 접근하지 못했던 고객 세그먼트에 접근할 수 있게 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공급망 탄력성: 다양한 지역에 걸쳐 창고 위치를 다양화함으로써 공급망 탄력성을 향상시킬 수 있으며, 자연 재해나 인프라 장애와 같은 지역적인 중단과 관련된 위험을 완화할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경쟁 우위: 경쟁사보다 더 빠르게 제품을 배송할 수 있는 능력은 아마존에게 시장에서 경쟁 우위를 제공하며, 더 많은 고객을 유치하고 높은 매출 규모를 창출할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 기반의 의사 결정: 최적의 창고 위치를 식별하기 위해 데이터 분석을 활용하는 것은 아마존이 데이터 기반의 의사 결정에 헌신한다는 것을 보여주며, 투자가 비즈니스 목표와 시장 수요와 전략적으로 일치하도록 보장합니다.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g2cd02a2c52c_8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cd02a2c52c_8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고객 만족도 향상: 핵심 소비자 중심지에 창고를 전략적으로 위치시킴으로써 배송 시간을 단축시킬 수 있어 고객 만족도와 충성도를 높일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비용 최적화: 운송 경로와 인구 밀도에 대한 데이터 분석을 통해 창고에 대한 경제적 위치를 식별함으로써 물류를 최적화하고 운영 비용을 줄일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시장 확장: 수요가 높은 서비스되지 않은 지역을 식별하여 해당 지역에 창고를 설치함으로써 아마존은 시장 영역을 확장할 수 있으며, 이는 이전에 접근하지 못했던 고객 세그먼트에 접근할 수 있게 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공급망 탄력성: 다양한 지역에 걸쳐 창고 위치를 다양화함으로써 공급망 탄력성을 향상시킬 수 있으며, 자연 재해나 인프라 장애와 같은 지역적인 중단과 관련된 위험을 완화할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경쟁 우위: 경쟁사보다 더 빠르게 제품을 배송할 수 있는 능력은 아마존에게 시장에서 경쟁 우위를 제공하며, 더 많은 고객을 유치하고 높은 매출 규모를 창출할 수 있습니다.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 기반의 의사 결정: 최적의 창고 위치를 식별하기 위해 데이터 분석을 활용하는 것은 아마존이 데이터 기반의 의사 결정에 헌신한다는 것을 보여주며, 투자가 비즈니스 목표와 시장 수요와 전략적으로 일치하도록 보장합니다.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g2cd02a2c52c_8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f58c5d9079_7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1f58c5d9079_7_6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f58c5d9079_7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g1f58c5d9079_7_5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>
            <p:ph idx="2" type="pic"/>
          </p:nvPr>
        </p:nvSpPr>
        <p:spPr>
          <a:xfrm>
            <a:off x="5514974" y="821531"/>
            <a:ext cx="2693194" cy="35004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>
            <p:ph idx="2" type="pic"/>
          </p:nvPr>
        </p:nvSpPr>
        <p:spPr>
          <a:xfrm>
            <a:off x="816769" y="1452951"/>
            <a:ext cx="3904958" cy="251226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/>
          <p:nvPr>
            <p:ph idx="3" type="pic"/>
          </p:nvPr>
        </p:nvSpPr>
        <p:spPr>
          <a:xfrm>
            <a:off x="4335870" y="1965008"/>
            <a:ext cx="1070796" cy="22002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>
            <p:ph idx="2" type="pic"/>
          </p:nvPr>
        </p:nvSpPr>
        <p:spPr>
          <a:xfrm>
            <a:off x="5514974" y="821531"/>
            <a:ext cx="2693194" cy="35004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/>
          <p:nvPr>
            <p:ph idx="2" type="pic"/>
          </p:nvPr>
        </p:nvSpPr>
        <p:spPr>
          <a:xfrm>
            <a:off x="816769" y="1452951"/>
            <a:ext cx="3904958" cy="251226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9"/>
          <p:cNvSpPr/>
          <p:nvPr>
            <p:ph idx="3" type="pic"/>
          </p:nvPr>
        </p:nvSpPr>
        <p:spPr>
          <a:xfrm>
            <a:off x="4335870" y="1965008"/>
            <a:ext cx="1070796" cy="22002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8" name="Google Shape;148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1" name="Google Shape;161;p33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33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3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5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5" name="Google Shape;175;p3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3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6" name="Google Shape;126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hyperlink" Target="https://stockarea.io/blogs/amazon-vs-flipkart-who-is-dominating-indian-ecommerc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5" Type="http://schemas.openxmlformats.org/officeDocument/2006/relationships/image" Target="../media/image15.png"/><Relationship Id="rId14" Type="http://schemas.openxmlformats.org/officeDocument/2006/relationships/image" Target="../media/image6.png"/><Relationship Id="rId17" Type="http://schemas.openxmlformats.org/officeDocument/2006/relationships/image" Target="../media/image16.png"/><Relationship Id="rId16" Type="http://schemas.openxmlformats.org/officeDocument/2006/relationships/image" Target="../media/image13.png"/><Relationship Id="rId5" Type="http://schemas.openxmlformats.org/officeDocument/2006/relationships/image" Target="../media/image25.png"/><Relationship Id="rId19" Type="http://schemas.openxmlformats.org/officeDocument/2006/relationships/image" Target="../media/image17.png"/><Relationship Id="rId6" Type="http://schemas.openxmlformats.org/officeDocument/2006/relationships/image" Target="../media/image11.png"/><Relationship Id="rId18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8.png"/><Relationship Id="rId4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Relationship Id="rId4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Relationship Id="rId4" Type="http://schemas.openxmlformats.org/officeDocument/2006/relationships/hyperlink" Target="https://stockarea.io/blogs/amazon-vs-flipkart-who-is-dominating-indian-ecommerce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0.png"/><Relationship Id="rId4" Type="http://schemas.openxmlformats.org/officeDocument/2006/relationships/image" Target="../media/image6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3.png"/><Relationship Id="rId4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1.png"/><Relationship Id="rId4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6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6.png"/><Relationship Id="rId4" Type="http://schemas.openxmlformats.org/officeDocument/2006/relationships/image" Target="../media/image5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5.png"/><Relationship Id="rId4" Type="http://schemas.openxmlformats.org/officeDocument/2006/relationships/image" Target="../media/image57.png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hyperlink" Target="https://itforfun.tistory.com/195" TargetMode="External"/><Relationship Id="rId10" Type="http://schemas.openxmlformats.org/officeDocument/2006/relationships/hyperlink" Target="https://github.com/chrisjune/pytorch-tutorials/blob/master/collaborative-filtering-nn.ipynb" TargetMode="External"/><Relationship Id="rId12" Type="http://schemas.openxmlformats.org/officeDocument/2006/relationships/hyperlink" Target="https://india-kor.tistory.com/entry/%EC%9D%B8%EB%8F%84-%EC%A0%84%EC%9E%90%EC%83%81%EA%B1%B0%EB%9E%98-%EC%8B%9C%EC%9E%A5-%EC%9D%B4%EC%BB%A4%EB%A8%B8%EC%8A%A4%EC%9D%B8%ED%84%B0%EB%84%B7%EC%87%BC%ED%95%91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asia.nikkei.com/Business/Business-Spotlight/Amazon-falls-behind-Walmart-in-battle-for-India-s-online-shoppers" TargetMode="External"/><Relationship Id="rId4" Type="http://schemas.openxmlformats.org/officeDocument/2006/relationships/hyperlink" Target="https://stockarea.io/blogs/amazon-vs-flipkart-who-is-dominating-indian-ecommerce/" TargetMode="External"/><Relationship Id="rId9" Type="http://schemas.openxmlformats.org/officeDocument/2006/relationships/hyperlink" Target="https://chrisjune-13837.medium.com/%EB%A7%8C%EB%93%A4%EB%A9%B0-%EB%B0%B0%EC%9A%B0%EB%8A%94-%EC%B6%94%EC%B2%9C%EC%8B%9C%EC%8A%A4%ED%85%9C-neural-collaborative-filtering-ncf-%EB%9E%80-6dc8e2a02bb6" TargetMode="External"/><Relationship Id="rId5" Type="http://schemas.openxmlformats.org/officeDocument/2006/relationships/hyperlink" Target="https://www.emerics.org:446/businessDetail.es?brdctsNo=304210&amp;mid=a30400000000&amp;search_option=&amp;search_keyword=&amp;search_year=&amp;search_month=&amp;search_tagkeyword=&amp;systemcode=02&amp;search_region=&amp;search_area=&amp;currentPage=1&amp;pageCnt=10" TargetMode="External"/><Relationship Id="rId6" Type="http://schemas.openxmlformats.org/officeDocument/2006/relationships/hyperlink" Target="https://pabii.com/news/256268/" TargetMode="External"/><Relationship Id="rId7" Type="http://schemas.openxmlformats.org/officeDocument/2006/relationships/hyperlink" Target="https://medium.com/@dev-tech/bigin-recommender-system-1c809c1fcd23" TargetMode="External"/><Relationship Id="rId8" Type="http://schemas.openxmlformats.org/officeDocument/2006/relationships/hyperlink" Target="https://uoahvu.tistory.com/entry/Matrix-Factorization-%EA%B0%9C%EC%9A%94%EC%99%80-%EC%9B%90%EB%A6%AC%EB%B6%80%ED%84%B0-%EC%B5%9C%EC%A0%81%ED%99%94SGD-ALS%EA%B9%8C%EC%A7%80-%EC%9D%B4%ED%95%B4%ED%95%98%EA%B8%B0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/>
          <p:nvPr/>
        </p:nvSpPr>
        <p:spPr>
          <a:xfrm rot="5400000">
            <a:off x="7409122" y="2411953"/>
            <a:ext cx="2487518" cy="3626267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9"/>
          <p:cNvSpPr/>
          <p:nvPr/>
        </p:nvSpPr>
        <p:spPr>
          <a:xfrm>
            <a:off x="8060401" y="3721231"/>
            <a:ext cx="1083599" cy="1007710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9"/>
          <p:cNvSpPr/>
          <p:nvPr/>
        </p:nvSpPr>
        <p:spPr>
          <a:xfrm rot="2476041">
            <a:off x="-1129495" y="-1690598"/>
            <a:ext cx="3018103" cy="5329148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9"/>
          <p:cNvSpPr/>
          <p:nvPr/>
        </p:nvSpPr>
        <p:spPr>
          <a:xfrm rot="3140551">
            <a:off x="-1644407" y="-2106140"/>
            <a:ext cx="3018103" cy="5329148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39"/>
          <p:cNvGrpSpPr/>
          <p:nvPr/>
        </p:nvGrpSpPr>
        <p:grpSpPr>
          <a:xfrm>
            <a:off x="6043608" y="-72992"/>
            <a:ext cx="3100402" cy="1130253"/>
            <a:chOff x="4008257" y="2429255"/>
            <a:chExt cx="4193700" cy="1744217"/>
          </a:xfrm>
        </p:grpSpPr>
        <p:sp>
          <p:nvSpPr>
            <p:cNvPr id="207" name="Google Shape;207;p39"/>
            <p:cNvSpPr txBox="1"/>
            <p:nvPr/>
          </p:nvSpPr>
          <p:spPr>
            <a:xfrm>
              <a:off x="4008257" y="2429255"/>
              <a:ext cx="4193700" cy="15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000">
                  <a:solidFill>
                    <a:schemeClr val="dk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amaz</a:t>
              </a:r>
              <a:r>
                <a:rPr lang="ko" sz="6000">
                  <a:solidFill>
                    <a:schemeClr val="dk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on</a:t>
              </a:r>
              <a:endParaRPr sz="6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grpSp>
          <p:nvGrpSpPr>
            <p:cNvPr id="208" name="Google Shape;208;p39"/>
            <p:cNvGrpSpPr/>
            <p:nvPr/>
          </p:nvGrpSpPr>
          <p:grpSpPr>
            <a:xfrm>
              <a:off x="4348163" y="3770174"/>
              <a:ext cx="2162175" cy="403298"/>
              <a:chOff x="3184693" y="3692320"/>
              <a:chExt cx="4123771" cy="928045"/>
            </a:xfrm>
          </p:grpSpPr>
          <p:sp>
            <p:nvSpPr>
              <p:cNvPr id="209" name="Google Shape;209;p39"/>
              <p:cNvSpPr/>
              <p:nvPr/>
            </p:nvSpPr>
            <p:spPr>
              <a:xfrm>
                <a:off x="3184693" y="3773539"/>
                <a:ext cx="3757030" cy="846826"/>
              </a:xfrm>
              <a:custGeom>
                <a:rect b="b" l="l" r="r" t="t"/>
                <a:pathLst>
                  <a:path extrusionOk="0" h="1039050" w="4609853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39"/>
              <p:cNvSpPr/>
              <p:nvPr/>
            </p:nvSpPr>
            <p:spPr>
              <a:xfrm>
                <a:off x="6535428" y="3692320"/>
                <a:ext cx="773036" cy="761368"/>
              </a:xfrm>
              <a:custGeom>
                <a:rect b="b" l="l" r="r" t="t"/>
                <a:pathLst>
                  <a:path extrusionOk="0" h="933254" w="947553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1" name="Google Shape;211;p39"/>
          <p:cNvSpPr/>
          <p:nvPr/>
        </p:nvSpPr>
        <p:spPr>
          <a:xfrm rot="8901965">
            <a:off x="1694095" y="416282"/>
            <a:ext cx="1027688" cy="95571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9"/>
          <p:cNvSpPr txBox="1"/>
          <p:nvPr/>
        </p:nvSpPr>
        <p:spPr>
          <a:xfrm>
            <a:off x="2438875" y="1960650"/>
            <a:ext cx="4584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Amazon India </a:t>
            </a:r>
            <a:endParaRPr b="1" sz="3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인도 시장 점유율 확대 전략</a:t>
            </a:r>
            <a:endParaRPr b="1"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123550" y="4098150"/>
            <a:ext cx="41688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TECHIT DataThon</a:t>
            </a:r>
            <a:endParaRPr sz="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Team3    강지원 김화란 김정민 문건호</a:t>
            </a:r>
            <a:endParaRPr sz="1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/>
          <p:nvPr/>
        </p:nvSpPr>
        <p:spPr>
          <a:xfrm>
            <a:off x="-925475" y="-244030"/>
            <a:ext cx="3279645" cy="5631565"/>
          </a:xfrm>
          <a:custGeom>
            <a:rect b="b" l="l" r="r" t="t"/>
            <a:pathLst>
              <a:path extrusionOk="0" h="7508753" w="4372860">
                <a:moveTo>
                  <a:pt x="2661351" y="1435"/>
                </a:moveTo>
                <a:cubicBezTo>
                  <a:pt x="3355974" y="-17624"/>
                  <a:pt x="4057718" y="149141"/>
                  <a:pt x="4282136" y="739952"/>
                </a:cubicBezTo>
                <a:cubicBezTo>
                  <a:pt x="4506550" y="1335535"/>
                  <a:pt x="4253639" y="2350402"/>
                  <a:pt x="4175271" y="3127041"/>
                </a:cubicBezTo>
                <a:cubicBezTo>
                  <a:pt x="4100464" y="3898913"/>
                  <a:pt x="4207329" y="4432554"/>
                  <a:pt x="4164583" y="5152012"/>
                </a:cubicBezTo>
                <a:cubicBezTo>
                  <a:pt x="4118277" y="5871476"/>
                  <a:pt x="3929480" y="6771996"/>
                  <a:pt x="3477088" y="7200814"/>
                </a:cubicBezTo>
                <a:cubicBezTo>
                  <a:pt x="3081241" y="7576030"/>
                  <a:pt x="2489032" y="7586452"/>
                  <a:pt x="1951028" y="7350182"/>
                </a:cubicBezTo>
                <a:lnTo>
                  <a:pt x="1790700" y="7268067"/>
                </a:lnTo>
                <a:lnTo>
                  <a:pt x="1790700" y="7360673"/>
                </a:lnTo>
                <a:lnTo>
                  <a:pt x="0" y="7360673"/>
                </a:lnTo>
                <a:lnTo>
                  <a:pt x="0" y="185173"/>
                </a:lnTo>
                <a:lnTo>
                  <a:pt x="1659303" y="185173"/>
                </a:lnTo>
                <a:lnTo>
                  <a:pt x="1661275" y="184277"/>
                </a:lnTo>
                <a:cubicBezTo>
                  <a:pt x="1972964" y="63374"/>
                  <a:pt x="2315821" y="8581"/>
                  <a:pt x="2661351" y="1435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57948" y="2183827"/>
            <a:ext cx="202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Contents</a:t>
            </a:r>
            <a:endParaRPr sz="3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2412175" y="2394834"/>
            <a:ext cx="18507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주제 선정 배경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프로젝트 로드맵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분석 환경 및 사용기술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" name="Google Shape;221;p40"/>
          <p:cNvSpPr/>
          <p:nvPr/>
        </p:nvSpPr>
        <p:spPr>
          <a:xfrm rot="-9217753">
            <a:off x="8412877" y="3672143"/>
            <a:ext cx="938952" cy="1657933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0"/>
          <p:cNvSpPr/>
          <p:nvPr/>
        </p:nvSpPr>
        <p:spPr>
          <a:xfrm flipH="1" rot="3308474">
            <a:off x="8326899" y="4228769"/>
            <a:ext cx="938952" cy="1657934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40"/>
          <p:cNvCxnSpPr>
            <a:endCxn id="224" idx="6"/>
          </p:cNvCxnSpPr>
          <p:nvPr/>
        </p:nvCxnSpPr>
        <p:spPr>
          <a:xfrm flipH="1" rot="10800000">
            <a:off x="3320571" y="2083396"/>
            <a:ext cx="4727700" cy="12000"/>
          </a:xfrm>
          <a:prstGeom prst="straightConnector1">
            <a:avLst/>
          </a:prstGeom>
          <a:noFill/>
          <a:ln cap="flat" cmpd="sng" w="9525">
            <a:solidFill>
              <a:srgbClr val="13192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38100">
              <a:srgbClr val="000000">
                <a:alpha val="20000"/>
              </a:srgbClr>
            </a:outerShdw>
          </a:effectLst>
        </p:spPr>
      </p:cxnSp>
      <p:sp>
        <p:nvSpPr>
          <p:cNvPr id="225" name="Google Shape;225;p40"/>
          <p:cNvSpPr/>
          <p:nvPr/>
        </p:nvSpPr>
        <p:spPr>
          <a:xfrm>
            <a:off x="3139170" y="1885996"/>
            <a:ext cx="396600" cy="39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0"/>
          <p:cNvSpPr txBox="1"/>
          <p:nvPr/>
        </p:nvSpPr>
        <p:spPr>
          <a:xfrm>
            <a:off x="3014560" y="1377150"/>
            <a:ext cx="782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개요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0"/>
          <p:cNvSpPr/>
          <p:nvPr/>
        </p:nvSpPr>
        <p:spPr>
          <a:xfrm>
            <a:off x="4546129" y="1885996"/>
            <a:ext cx="396600" cy="39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4109080" y="1380915"/>
            <a:ext cx="1270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사례 분석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0"/>
          <p:cNvSpPr/>
          <p:nvPr/>
        </p:nvSpPr>
        <p:spPr>
          <a:xfrm>
            <a:off x="6098900" y="1885996"/>
            <a:ext cx="396600" cy="39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0"/>
          <p:cNvSpPr txBox="1"/>
          <p:nvPr/>
        </p:nvSpPr>
        <p:spPr>
          <a:xfrm>
            <a:off x="5953089" y="1380915"/>
            <a:ext cx="782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7651671" y="1885996"/>
            <a:ext cx="396600" cy="39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7505860" y="1380915"/>
            <a:ext cx="782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4053371" y="2391064"/>
            <a:ext cx="1382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데이터 소개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</a:t>
            </a: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출 분석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제</a:t>
            </a: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품 분석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고</a:t>
            </a: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객 분석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3" name="Google Shape;233;p40"/>
          <p:cNvSpPr txBox="1"/>
          <p:nvPr/>
        </p:nvSpPr>
        <p:spPr>
          <a:xfrm>
            <a:off x="5486517" y="2391077"/>
            <a:ext cx="1850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추천 시스템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웨어하우</a:t>
            </a: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스 위치 제안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이지하우</a:t>
            </a: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스 위치 제안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4" name="Google Shape;234;p40"/>
          <p:cNvSpPr txBox="1"/>
          <p:nvPr/>
        </p:nvSpPr>
        <p:spPr>
          <a:xfrm>
            <a:off x="7205777" y="2391077"/>
            <a:ext cx="13824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인사이트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434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 Medium"/>
              <a:buChar char="●"/>
            </a:pP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아이디</a:t>
            </a:r>
            <a:r>
              <a:rPr lang="ko" sz="9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어 제안</a:t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/>
        </p:nvSpPr>
        <p:spPr>
          <a:xfrm>
            <a:off x="464275" y="215625"/>
            <a:ext cx="3590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팀 소개 및 역할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5716863" y="3665364"/>
            <a:ext cx="293167" cy="209206"/>
          </a:xfrm>
          <a:custGeom>
            <a:rect b="b" l="l" r="r" t="t"/>
            <a:pathLst>
              <a:path extrusionOk="0" h="420514" w="589280">
                <a:moveTo>
                  <a:pt x="378083" y="364135"/>
                </a:moveTo>
                <a:lnTo>
                  <a:pt x="377956" y="364765"/>
                </a:lnTo>
                <a:lnTo>
                  <a:pt x="376253" y="367291"/>
                </a:lnTo>
                <a:close/>
                <a:moveTo>
                  <a:pt x="0" y="0"/>
                </a:moveTo>
                <a:lnTo>
                  <a:pt x="589280" y="0"/>
                </a:lnTo>
                <a:lnTo>
                  <a:pt x="378082" y="364134"/>
                </a:lnTo>
                <a:lnTo>
                  <a:pt x="376252" y="367290"/>
                </a:lnTo>
                <a:lnTo>
                  <a:pt x="358392" y="393778"/>
                </a:lnTo>
                <a:cubicBezTo>
                  <a:pt x="341874" y="410297"/>
                  <a:pt x="319054" y="420514"/>
                  <a:pt x="293847" y="420514"/>
                </a:cubicBezTo>
                <a:cubicBezTo>
                  <a:pt x="268641" y="420514"/>
                  <a:pt x="245820" y="410297"/>
                  <a:pt x="229302" y="393778"/>
                </a:cubicBezTo>
                <a:lnTo>
                  <a:pt x="222787" y="384116"/>
                </a:lnTo>
                <a:lnTo>
                  <a:pt x="208765" y="359940"/>
                </a:ln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7825267" y="3659214"/>
            <a:ext cx="293167" cy="209206"/>
          </a:xfrm>
          <a:custGeom>
            <a:rect b="b" l="l" r="r" t="t"/>
            <a:pathLst>
              <a:path extrusionOk="0" h="420514" w="589280">
                <a:moveTo>
                  <a:pt x="378083" y="364135"/>
                </a:moveTo>
                <a:lnTo>
                  <a:pt x="377956" y="364765"/>
                </a:lnTo>
                <a:lnTo>
                  <a:pt x="376253" y="367291"/>
                </a:lnTo>
                <a:close/>
                <a:moveTo>
                  <a:pt x="0" y="0"/>
                </a:moveTo>
                <a:lnTo>
                  <a:pt x="589280" y="0"/>
                </a:lnTo>
                <a:lnTo>
                  <a:pt x="378082" y="364134"/>
                </a:lnTo>
                <a:lnTo>
                  <a:pt x="376252" y="367290"/>
                </a:lnTo>
                <a:lnTo>
                  <a:pt x="358392" y="393778"/>
                </a:lnTo>
                <a:cubicBezTo>
                  <a:pt x="341874" y="410297"/>
                  <a:pt x="319054" y="420514"/>
                  <a:pt x="293847" y="420514"/>
                </a:cubicBezTo>
                <a:cubicBezTo>
                  <a:pt x="268641" y="420514"/>
                  <a:pt x="245820" y="410297"/>
                  <a:pt x="229302" y="393778"/>
                </a:cubicBezTo>
                <a:lnTo>
                  <a:pt x="222787" y="384116"/>
                </a:lnTo>
                <a:lnTo>
                  <a:pt x="208765" y="359940"/>
                </a:ln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41"/>
          <p:cNvCxnSpPr/>
          <p:nvPr/>
        </p:nvCxnSpPr>
        <p:spPr>
          <a:xfrm>
            <a:off x="1246696" y="4118702"/>
            <a:ext cx="6648600" cy="0"/>
          </a:xfrm>
          <a:prstGeom prst="straightConnector1">
            <a:avLst/>
          </a:prstGeom>
          <a:noFill/>
          <a:ln cap="rnd" cmpd="sng" w="38100">
            <a:solidFill>
              <a:srgbClr val="595959">
                <a:alpha val="80000"/>
              </a:srgbClr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p41"/>
          <p:cNvSpPr/>
          <p:nvPr/>
        </p:nvSpPr>
        <p:spPr>
          <a:xfrm>
            <a:off x="1100371" y="3665364"/>
            <a:ext cx="293167" cy="209206"/>
          </a:xfrm>
          <a:custGeom>
            <a:rect b="b" l="l" r="r" t="t"/>
            <a:pathLst>
              <a:path extrusionOk="0" h="420514" w="589280">
                <a:moveTo>
                  <a:pt x="378083" y="364135"/>
                </a:moveTo>
                <a:lnTo>
                  <a:pt x="377956" y="364765"/>
                </a:lnTo>
                <a:lnTo>
                  <a:pt x="376253" y="367291"/>
                </a:lnTo>
                <a:close/>
                <a:moveTo>
                  <a:pt x="0" y="0"/>
                </a:moveTo>
                <a:lnTo>
                  <a:pt x="589280" y="0"/>
                </a:lnTo>
                <a:lnTo>
                  <a:pt x="378082" y="364134"/>
                </a:lnTo>
                <a:lnTo>
                  <a:pt x="376252" y="367290"/>
                </a:lnTo>
                <a:lnTo>
                  <a:pt x="358392" y="393778"/>
                </a:lnTo>
                <a:cubicBezTo>
                  <a:pt x="341874" y="410297"/>
                  <a:pt x="319054" y="420514"/>
                  <a:pt x="293847" y="420514"/>
                </a:cubicBezTo>
                <a:cubicBezTo>
                  <a:pt x="268641" y="420514"/>
                  <a:pt x="245820" y="410297"/>
                  <a:pt x="229302" y="393778"/>
                </a:cubicBezTo>
                <a:lnTo>
                  <a:pt x="222787" y="384116"/>
                </a:lnTo>
                <a:lnTo>
                  <a:pt x="208765" y="359940"/>
                </a:ln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1188209" y="4060216"/>
            <a:ext cx="117000" cy="117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3460190" y="4047934"/>
            <a:ext cx="141600" cy="1416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5802948" y="4060216"/>
            <a:ext cx="117000" cy="117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7913352" y="4060216"/>
            <a:ext cx="117000" cy="117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345325" y="1034375"/>
            <a:ext cx="1899000" cy="2645700"/>
          </a:xfrm>
          <a:prstGeom prst="roundRect">
            <a:avLst>
              <a:gd fmla="val 16667" name="adj"/>
            </a:avLst>
          </a:prstGeom>
          <a:solidFill>
            <a:srgbClr val="1319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1"/>
          <p:cNvSpPr txBox="1"/>
          <p:nvPr/>
        </p:nvSpPr>
        <p:spPr>
          <a:xfrm>
            <a:off x="555625" y="2400917"/>
            <a:ext cx="147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강지원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555621" y="2739152"/>
            <a:ext cx="14784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아마존 리뷰 분석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NCF 기반 추천 시스템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시각화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PPT 제작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41"/>
          <p:cNvSpPr/>
          <p:nvPr/>
        </p:nvSpPr>
        <p:spPr>
          <a:xfrm>
            <a:off x="3384413" y="3659227"/>
            <a:ext cx="293167" cy="209206"/>
          </a:xfrm>
          <a:custGeom>
            <a:rect b="b" l="l" r="r" t="t"/>
            <a:pathLst>
              <a:path extrusionOk="0" h="420514" w="589280">
                <a:moveTo>
                  <a:pt x="378083" y="364135"/>
                </a:moveTo>
                <a:lnTo>
                  <a:pt x="377956" y="364765"/>
                </a:lnTo>
                <a:lnTo>
                  <a:pt x="376253" y="367291"/>
                </a:lnTo>
                <a:close/>
                <a:moveTo>
                  <a:pt x="0" y="0"/>
                </a:moveTo>
                <a:lnTo>
                  <a:pt x="589280" y="0"/>
                </a:lnTo>
                <a:lnTo>
                  <a:pt x="378082" y="364134"/>
                </a:lnTo>
                <a:lnTo>
                  <a:pt x="376252" y="367290"/>
                </a:lnTo>
                <a:lnTo>
                  <a:pt x="358392" y="393778"/>
                </a:lnTo>
                <a:cubicBezTo>
                  <a:pt x="341874" y="410297"/>
                  <a:pt x="319054" y="420514"/>
                  <a:pt x="293847" y="420514"/>
                </a:cubicBezTo>
                <a:cubicBezTo>
                  <a:pt x="268641" y="420514"/>
                  <a:pt x="245820" y="410297"/>
                  <a:pt x="229302" y="393778"/>
                </a:cubicBezTo>
                <a:lnTo>
                  <a:pt x="222787" y="384116"/>
                </a:lnTo>
                <a:lnTo>
                  <a:pt x="208765" y="359940"/>
                </a:ln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1"/>
          <p:cNvSpPr/>
          <p:nvPr/>
        </p:nvSpPr>
        <p:spPr>
          <a:xfrm>
            <a:off x="2581500" y="1028225"/>
            <a:ext cx="1899000" cy="2645700"/>
          </a:xfrm>
          <a:prstGeom prst="roundRect">
            <a:avLst>
              <a:gd fmla="val 16667" name="adj"/>
            </a:avLst>
          </a:prstGeom>
          <a:solidFill>
            <a:srgbClr val="1319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1"/>
          <p:cNvSpPr txBox="1"/>
          <p:nvPr/>
        </p:nvSpPr>
        <p:spPr>
          <a:xfrm>
            <a:off x="2791800" y="2394767"/>
            <a:ext cx="147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김화란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2791796" y="2733002"/>
            <a:ext cx="14784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매</a:t>
            </a: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출&amp;제품 </a:t>
            </a: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분석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고</a:t>
            </a: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객 분석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시각화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PPT 제작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4845038" y="1034375"/>
            <a:ext cx="1899000" cy="2645700"/>
          </a:xfrm>
          <a:prstGeom prst="roundRect">
            <a:avLst>
              <a:gd fmla="val 16667" name="adj"/>
            </a:avLst>
          </a:prstGeom>
          <a:solidFill>
            <a:srgbClr val="1319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1"/>
          <p:cNvSpPr txBox="1"/>
          <p:nvPr/>
        </p:nvSpPr>
        <p:spPr>
          <a:xfrm>
            <a:off x="5055213" y="2388617"/>
            <a:ext cx="147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김정민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 txBox="1"/>
          <p:nvPr/>
        </p:nvSpPr>
        <p:spPr>
          <a:xfrm>
            <a:off x="5055333" y="2733002"/>
            <a:ext cx="1478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웨어하우</a:t>
            </a: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스 위치 제안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시각화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PPT 제작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7022338" y="1028225"/>
            <a:ext cx="1899000" cy="2645700"/>
          </a:xfrm>
          <a:prstGeom prst="roundRect">
            <a:avLst>
              <a:gd fmla="val 16667" name="adj"/>
            </a:avLst>
          </a:prstGeom>
          <a:solidFill>
            <a:srgbClr val="1319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7232638" y="2394767"/>
            <a:ext cx="147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문건호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7232658" y="2733002"/>
            <a:ext cx="14784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이</a:t>
            </a: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지 스토어 위치 제안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아이디</a:t>
            </a: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어 제안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시각화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PPT 제작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1" name="Google Shape;2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9575" y="1123025"/>
            <a:ext cx="1330225" cy="124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175" y="1110750"/>
            <a:ext cx="1247875" cy="12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4137" y="1029250"/>
            <a:ext cx="1435424" cy="143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1"/>
          <p:cNvSpPr txBox="1"/>
          <p:nvPr/>
        </p:nvSpPr>
        <p:spPr>
          <a:xfrm>
            <a:off x="5319525" y="1192500"/>
            <a:ext cx="12141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💁🏻‍♀️</a:t>
            </a:r>
            <a:endParaRPr sz="6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/>
          <p:nvPr/>
        </p:nvSpPr>
        <p:spPr>
          <a:xfrm>
            <a:off x="-200025" y="-2447245"/>
            <a:ext cx="9544050" cy="4265840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42"/>
          <p:cNvGrpSpPr/>
          <p:nvPr/>
        </p:nvGrpSpPr>
        <p:grpSpPr>
          <a:xfrm>
            <a:off x="704873" y="773412"/>
            <a:ext cx="7734255" cy="1369713"/>
            <a:chOff x="3311855" y="3736152"/>
            <a:chExt cx="4123771" cy="928902"/>
          </a:xfrm>
        </p:grpSpPr>
        <p:sp>
          <p:nvSpPr>
            <p:cNvPr id="271" name="Google Shape;271;p42"/>
            <p:cNvSpPr/>
            <p:nvPr/>
          </p:nvSpPr>
          <p:spPr>
            <a:xfrm>
              <a:off x="3311855" y="3817376"/>
              <a:ext cx="3760826" cy="847678"/>
            </a:xfrm>
            <a:custGeom>
              <a:rect b="b" l="l" r="r" t="t"/>
              <a:pathLst>
                <a:path extrusionOk="0" h="1039050" w="4609853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6662590" y="3736152"/>
              <a:ext cx="773036" cy="761368"/>
            </a:xfrm>
            <a:custGeom>
              <a:rect b="b" l="l" r="r" t="t"/>
              <a:pathLst>
                <a:path extrusionOk="0" h="933254" w="947553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42"/>
          <p:cNvSpPr txBox="1"/>
          <p:nvPr/>
        </p:nvSpPr>
        <p:spPr>
          <a:xfrm>
            <a:off x="679346" y="3577837"/>
            <a:ext cx="7785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개요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2"/>
          <p:cNvSpPr txBox="1"/>
          <p:nvPr/>
        </p:nvSpPr>
        <p:spPr>
          <a:xfrm>
            <a:off x="3219284" y="2780550"/>
            <a:ext cx="2705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1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Chapter 1.</a:t>
            </a:r>
            <a:endParaRPr sz="4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2476041">
            <a:off x="-202482" y="-486216"/>
            <a:ext cx="938952" cy="1657934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3"/>
          <p:cNvSpPr/>
          <p:nvPr/>
        </p:nvSpPr>
        <p:spPr>
          <a:xfrm flipH="1" rot="-6597732">
            <a:off x="23701" y="-1002033"/>
            <a:ext cx="938952" cy="1657934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485" y="3173763"/>
            <a:ext cx="3309606" cy="17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3"/>
          <p:cNvSpPr txBox="1"/>
          <p:nvPr/>
        </p:nvSpPr>
        <p:spPr>
          <a:xfrm>
            <a:off x="484175" y="2857300"/>
            <a:ext cx="32607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출처 : </a:t>
            </a: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통계청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28" y="1113875"/>
            <a:ext cx="6351234" cy="178168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3"/>
          <p:cNvSpPr txBox="1"/>
          <p:nvPr/>
        </p:nvSpPr>
        <p:spPr>
          <a:xfrm>
            <a:off x="534925" y="4862988"/>
            <a:ext cx="32607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출처 : nikkeiasia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3"/>
          <p:cNvSpPr txBox="1"/>
          <p:nvPr/>
        </p:nvSpPr>
        <p:spPr>
          <a:xfrm>
            <a:off x="4616850" y="3156175"/>
            <a:ext cx="42780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ko" sz="1100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- 인도 인터넷 이용자 수 증가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- 인도 이커머스 시장의 성장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6" name="Google Shape;286;p43"/>
          <p:cNvSpPr txBox="1"/>
          <p:nvPr/>
        </p:nvSpPr>
        <p:spPr>
          <a:xfrm>
            <a:off x="1123857" y="1556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개요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주제 선정 배경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7" name="Google Shape;287;p43"/>
          <p:cNvSpPr txBox="1"/>
          <p:nvPr/>
        </p:nvSpPr>
        <p:spPr>
          <a:xfrm>
            <a:off x="1123850" y="607325"/>
            <a:ext cx="4406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ko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인도 이커머스 시장 현황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/>
          <p:nvPr/>
        </p:nvSpPr>
        <p:spPr>
          <a:xfrm rot="2478991">
            <a:off x="-201962" y="-485553"/>
            <a:ext cx="938651" cy="1656737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4"/>
          <p:cNvSpPr/>
          <p:nvPr/>
        </p:nvSpPr>
        <p:spPr>
          <a:xfrm flipH="1" rot="-6601657">
            <a:off x="24050" y="-1002656"/>
            <a:ext cx="937967" cy="1657251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4"/>
          <p:cNvSpPr txBox="1"/>
          <p:nvPr/>
        </p:nvSpPr>
        <p:spPr>
          <a:xfrm>
            <a:off x="528900" y="3618600"/>
            <a:ext cx="8238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인도 이커머스 시장에서 플립카트가 60%, 아마존은 30% 정도를 차지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30%의 점유율을 차지하고 있는 아마존 기존 매출 분석을 통해 아마존 인디아가 점유율을 높일수 있는 방안 제안</a:t>
            </a:r>
            <a:endParaRPr/>
          </a:p>
        </p:txBody>
      </p:sp>
      <p:pic>
        <p:nvPicPr>
          <p:cNvPr id="295" name="Google Shape;2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042" y="1100263"/>
            <a:ext cx="3530549" cy="17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4"/>
          <p:cNvSpPr txBox="1"/>
          <p:nvPr/>
        </p:nvSpPr>
        <p:spPr>
          <a:xfrm>
            <a:off x="2551500" y="2885325"/>
            <a:ext cx="43077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출처 : </a:t>
            </a:r>
            <a:r>
              <a:rPr lang="ko" sz="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ttps://stockarea.io/blogs/amazon-vs-flipkart-who-is-dominating-indian-ecommerce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1123857" y="1556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개요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주제 선정 배경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1165875" y="684300"/>
            <a:ext cx="4406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ko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인도 이커머스 시장 점유율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/>
          <p:nvPr/>
        </p:nvSpPr>
        <p:spPr>
          <a:xfrm rot="2478991">
            <a:off x="-201962" y="-485553"/>
            <a:ext cx="938651" cy="1656737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5"/>
          <p:cNvSpPr/>
          <p:nvPr/>
        </p:nvSpPr>
        <p:spPr>
          <a:xfrm flipH="1" rot="-6601657">
            <a:off x="24050" y="-1002656"/>
            <a:ext cx="937967" cy="1657251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4294200" y="1374788"/>
            <a:ext cx="48498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48535B"/>
                </a:solidFill>
              </a:rPr>
              <a:t>1) 디지털 페이</a:t>
            </a:r>
            <a:endParaRPr sz="1350">
              <a:solidFill>
                <a:srgbClr val="4853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48535B"/>
                </a:solidFill>
              </a:rPr>
              <a:t>플립카트는 디지털 인디아 정책에 힘입어 모바일 데이터 접근성이 확보되는 시기(</a:t>
            </a:r>
            <a:r>
              <a:rPr lang="ko" sz="1350">
                <a:solidFill>
                  <a:srgbClr val="043B72"/>
                </a:solidFill>
              </a:rPr>
              <a:t>2016년 3월)에  UPI 기반의 디지털 페이 서비스를 제공하는 폰페를 인수했다.</a:t>
            </a:r>
            <a:r>
              <a:rPr lang="ko" sz="1350">
                <a:solidFill>
                  <a:srgbClr val="48535B"/>
                </a:solidFill>
              </a:rPr>
              <a:t> </a:t>
            </a:r>
            <a:endParaRPr sz="1350">
              <a:solidFill>
                <a:srgbClr val="4853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48535B"/>
                </a:solidFill>
              </a:rPr>
              <a:t>플립카트는 폰페와 함께 후결제(Pay Later), 착불 서비스(Pay-On-Delivery) 등을 제공하면서 빠르게 전자상거래 시장점유율을 끌어올렸다.</a:t>
            </a:r>
            <a:endParaRPr sz="1350">
              <a:solidFill>
                <a:srgbClr val="4853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48535B"/>
                </a:solidFill>
              </a:rPr>
              <a:t>2) 배송센터</a:t>
            </a:r>
            <a:endParaRPr sz="1350">
              <a:solidFill>
                <a:srgbClr val="4853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50">
                <a:solidFill>
                  <a:srgbClr val="48535B"/>
                </a:solidFill>
              </a:rPr>
              <a:t>플립카트는 배송센터를 지속적으로 늘리고 소도시에서 설치하여 배송시간을 단축하고 접근성을 높였다.</a:t>
            </a:r>
            <a:endParaRPr sz="1350">
              <a:solidFill>
                <a:srgbClr val="48535B"/>
              </a:solidFill>
            </a:endParaRPr>
          </a:p>
        </p:txBody>
      </p:sp>
      <p:sp>
        <p:nvSpPr>
          <p:cNvPr id="306" name="Google Shape;306;p45"/>
          <p:cNvSpPr txBox="1"/>
          <p:nvPr/>
        </p:nvSpPr>
        <p:spPr>
          <a:xfrm>
            <a:off x="1123857" y="1556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개요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주제 선정 배경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7" name="Google Shape;307;p45"/>
          <p:cNvSpPr txBox="1"/>
          <p:nvPr/>
        </p:nvSpPr>
        <p:spPr>
          <a:xfrm>
            <a:off x="1165875" y="732875"/>
            <a:ext cx="4406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점유율 1위, 플립카트의 전략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88" y="1407975"/>
            <a:ext cx="3518032" cy="232756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5"/>
          <p:cNvSpPr txBox="1"/>
          <p:nvPr/>
        </p:nvSpPr>
        <p:spPr>
          <a:xfrm>
            <a:off x="166938" y="4810725"/>
            <a:ext cx="4229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출처: https://magazine.securities.miraeasset.com/contents.php?category=investment&amp;idx=1078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/>
          <p:nvPr/>
        </p:nvSpPr>
        <p:spPr>
          <a:xfrm rot="3044999">
            <a:off x="5810112" y="-818645"/>
            <a:ext cx="4084826" cy="5918472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6"/>
          <p:cNvSpPr/>
          <p:nvPr/>
        </p:nvSpPr>
        <p:spPr>
          <a:xfrm>
            <a:off x="6766659" y="4959430"/>
            <a:ext cx="2748143" cy="370703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6"/>
          <p:cNvSpPr/>
          <p:nvPr/>
        </p:nvSpPr>
        <p:spPr>
          <a:xfrm>
            <a:off x="6937924" y="4726137"/>
            <a:ext cx="2576877" cy="370703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6"/>
          <p:cNvSpPr/>
          <p:nvPr/>
        </p:nvSpPr>
        <p:spPr>
          <a:xfrm>
            <a:off x="7632501" y="3434908"/>
            <a:ext cx="1815816" cy="1407876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592" y="-242134"/>
            <a:ext cx="1727160" cy="574962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6"/>
          <p:cNvSpPr txBox="1"/>
          <p:nvPr/>
        </p:nvSpPr>
        <p:spPr>
          <a:xfrm>
            <a:off x="438457" y="2069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개요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프로젝트 로드맵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20" name="Google Shape;320;p46"/>
          <p:cNvSpPr/>
          <p:nvPr/>
        </p:nvSpPr>
        <p:spPr>
          <a:xfrm rot="10800000">
            <a:off x="438450" y="1702200"/>
            <a:ext cx="1742775" cy="1496925"/>
          </a:xfrm>
          <a:prstGeom prst="flowChartOnlineStorag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6"/>
          <p:cNvSpPr/>
          <p:nvPr/>
        </p:nvSpPr>
        <p:spPr>
          <a:xfrm rot="10800000">
            <a:off x="2789175" y="1702200"/>
            <a:ext cx="1742775" cy="1496925"/>
          </a:xfrm>
          <a:prstGeom prst="flowChartOnlineStorag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6"/>
          <p:cNvSpPr/>
          <p:nvPr/>
        </p:nvSpPr>
        <p:spPr>
          <a:xfrm rot="10800000">
            <a:off x="5195150" y="1702200"/>
            <a:ext cx="1742775" cy="1496925"/>
          </a:xfrm>
          <a:prstGeom prst="flowChartOnlineStorag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692925" y="2214410"/>
            <a:ext cx="14883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3043650" y="2214410"/>
            <a:ext cx="14883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데이터 분</a:t>
            </a:r>
            <a:r>
              <a:rPr b="1" lang="ko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석 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5449650" y="1983584"/>
            <a:ext cx="1488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웹 대시보드 개발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46"/>
          <p:cNvSpPr/>
          <p:nvPr/>
        </p:nvSpPr>
        <p:spPr>
          <a:xfrm rot="-5400000">
            <a:off x="2465850" y="2467152"/>
            <a:ext cx="293167" cy="209206"/>
          </a:xfrm>
          <a:custGeom>
            <a:rect b="b" l="l" r="r" t="t"/>
            <a:pathLst>
              <a:path extrusionOk="0" h="420514" w="589280">
                <a:moveTo>
                  <a:pt x="378083" y="364135"/>
                </a:moveTo>
                <a:lnTo>
                  <a:pt x="377956" y="364765"/>
                </a:lnTo>
                <a:lnTo>
                  <a:pt x="376253" y="367291"/>
                </a:lnTo>
                <a:close/>
                <a:moveTo>
                  <a:pt x="0" y="0"/>
                </a:moveTo>
                <a:lnTo>
                  <a:pt x="589280" y="0"/>
                </a:lnTo>
                <a:lnTo>
                  <a:pt x="378082" y="364134"/>
                </a:lnTo>
                <a:lnTo>
                  <a:pt x="376252" y="367290"/>
                </a:lnTo>
                <a:lnTo>
                  <a:pt x="358392" y="393778"/>
                </a:lnTo>
                <a:cubicBezTo>
                  <a:pt x="341874" y="410297"/>
                  <a:pt x="319054" y="420514"/>
                  <a:pt x="293847" y="420514"/>
                </a:cubicBezTo>
                <a:cubicBezTo>
                  <a:pt x="268641" y="420514"/>
                  <a:pt x="245820" y="410297"/>
                  <a:pt x="229302" y="393778"/>
                </a:cubicBezTo>
                <a:lnTo>
                  <a:pt x="222787" y="384116"/>
                </a:lnTo>
                <a:lnTo>
                  <a:pt x="208765" y="359940"/>
                </a:ln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6"/>
          <p:cNvSpPr/>
          <p:nvPr/>
        </p:nvSpPr>
        <p:spPr>
          <a:xfrm rot="-5400000">
            <a:off x="4844213" y="2467139"/>
            <a:ext cx="293167" cy="209206"/>
          </a:xfrm>
          <a:custGeom>
            <a:rect b="b" l="l" r="r" t="t"/>
            <a:pathLst>
              <a:path extrusionOk="0" h="420514" w="589280">
                <a:moveTo>
                  <a:pt x="378083" y="364135"/>
                </a:moveTo>
                <a:lnTo>
                  <a:pt x="377956" y="364765"/>
                </a:lnTo>
                <a:lnTo>
                  <a:pt x="376253" y="367291"/>
                </a:lnTo>
                <a:close/>
                <a:moveTo>
                  <a:pt x="0" y="0"/>
                </a:moveTo>
                <a:lnTo>
                  <a:pt x="589280" y="0"/>
                </a:lnTo>
                <a:lnTo>
                  <a:pt x="378082" y="364134"/>
                </a:lnTo>
                <a:lnTo>
                  <a:pt x="376252" y="367290"/>
                </a:lnTo>
                <a:lnTo>
                  <a:pt x="358392" y="393778"/>
                </a:lnTo>
                <a:cubicBezTo>
                  <a:pt x="341874" y="410297"/>
                  <a:pt x="319054" y="420514"/>
                  <a:pt x="293847" y="420514"/>
                </a:cubicBezTo>
                <a:cubicBezTo>
                  <a:pt x="268641" y="420514"/>
                  <a:pt x="245820" y="410297"/>
                  <a:pt x="229302" y="393778"/>
                </a:cubicBezTo>
                <a:lnTo>
                  <a:pt x="222787" y="384116"/>
                </a:lnTo>
                <a:lnTo>
                  <a:pt x="208765" y="359940"/>
                </a:ln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6"/>
          <p:cNvSpPr txBox="1"/>
          <p:nvPr/>
        </p:nvSpPr>
        <p:spPr>
          <a:xfrm>
            <a:off x="385938" y="3381525"/>
            <a:ext cx="16938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분석 계획 설계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데이터 수집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데이터 전처리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29" name="Google Shape;329;p46"/>
          <p:cNvSpPr txBox="1"/>
          <p:nvPr/>
        </p:nvSpPr>
        <p:spPr>
          <a:xfrm>
            <a:off x="2813650" y="3381525"/>
            <a:ext cx="16938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데이터 분석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ML/DL 활</a:t>
            </a: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용 분석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제</a:t>
            </a: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안 관련 분석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추천 시스템 구현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인사이트 도출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시각화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0" name="Google Shape;330;p46"/>
          <p:cNvSpPr txBox="1"/>
          <p:nvPr/>
        </p:nvSpPr>
        <p:spPr>
          <a:xfrm>
            <a:off x="5195138" y="3381525"/>
            <a:ext cx="16938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웹 페이지 설계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60699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ra Sans Medium"/>
              <a:buChar char="●"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웹 대시보드 개발</a:t>
            </a:r>
            <a:endParaRPr sz="1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1" name="Google Shape;331;p46"/>
          <p:cNvSpPr txBox="1"/>
          <p:nvPr/>
        </p:nvSpPr>
        <p:spPr>
          <a:xfrm>
            <a:off x="970575" y="2617475"/>
            <a:ext cx="93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03/29 ~ 04/02</a:t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2" name="Google Shape;332;p46"/>
          <p:cNvSpPr txBox="1"/>
          <p:nvPr/>
        </p:nvSpPr>
        <p:spPr>
          <a:xfrm>
            <a:off x="3335126" y="2617475"/>
            <a:ext cx="989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04/02 ~ 04/11</a:t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5698951" y="2617475"/>
            <a:ext cx="989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04/11 ~ 04/15</a:t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/>
          <p:nvPr/>
        </p:nvSpPr>
        <p:spPr>
          <a:xfrm rot="7707741">
            <a:off x="8752632" y="4285078"/>
            <a:ext cx="581372" cy="540656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7"/>
          <p:cNvSpPr txBox="1"/>
          <p:nvPr/>
        </p:nvSpPr>
        <p:spPr>
          <a:xfrm>
            <a:off x="438457" y="2069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개요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분석 환경 및 사용 기술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40" name="Google Shape;340;p47"/>
          <p:cNvGrpSpPr/>
          <p:nvPr/>
        </p:nvGrpSpPr>
        <p:grpSpPr>
          <a:xfrm rot="-9453103">
            <a:off x="7514807" y="4076809"/>
            <a:ext cx="2066843" cy="2172277"/>
            <a:chOff x="-845286" y="-1196058"/>
            <a:chExt cx="2755665" cy="2896238"/>
          </a:xfrm>
        </p:grpSpPr>
        <p:sp>
          <p:nvSpPr>
            <p:cNvPr id="341" name="Google Shape;341;p47"/>
            <p:cNvSpPr/>
            <p:nvPr/>
          </p:nvSpPr>
          <p:spPr>
            <a:xfrm rot="2473360">
              <a:off x="-270416" y="-649434"/>
              <a:ext cx="1250997" cy="2212398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7"/>
            <p:cNvSpPr/>
            <p:nvPr/>
          </p:nvSpPr>
          <p:spPr>
            <a:xfrm flipH="1" rot="-6594984">
              <a:off x="31803" y="-1336264"/>
              <a:ext cx="1251756" cy="221159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47"/>
          <p:cNvSpPr/>
          <p:nvPr/>
        </p:nvSpPr>
        <p:spPr>
          <a:xfrm>
            <a:off x="438450" y="1360150"/>
            <a:ext cx="2025000" cy="350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7"/>
          <p:cNvSpPr txBox="1"/>
          <p:nvPr/>
        </p:nvSpPr>
        <p:spPr>
          <a:xfrm>
            <a:off x="972000" y="952450"/>
            <a:ext cx="9579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데이터 수집</a:t>
            </a:r>
            <a:r>
              <a:rPr b="1" lang="ko" sz="1200">
                <a:solidFill>
                  <a:schemeClr val="dk1"/>
                </a:solidFill>
                <a:highlight>
                  <a:srgbClr val="F6C700"/>
                </a:highlight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1" sz="1200">
              <a:solidFill>
                <a:schemeClr val="dk1"/>
              </a:solidFill>
              <a:highlight>
                <a:srgbClr val="F6C7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7"/>
          <p:cNvSpPr/>
          <p:nvPr/>
        </p:nvSpPr>
        <p:spPr>
          <a:xfrm>
            <a:off x="2839225" y="1360150"/>
            <a:ext cx="2438400" cy="350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3572400" y="952450"/>
            <a:ext cx="9579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데이터 분석</a:t>
            </a:r>
            <a:r>
              <a:rPr b="1" lang="ko" sz="1200">
                <a:solidFill>
                  <a:schemeClr val="dk1"/>
                </a:solidFill>
                <a:highlight>
                  <a:srgbClr val="F6C700"/>
                </a:highlight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1" sz="1200">
              <a:solidFill>
                <a:schemeClr val="dk1"/>
              </a:solidFill>
              <a:highlight>
                <a:srgbClr val="F6C7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7"/>
          <p:cNvSpPr/>
          <p:nvPr/>
        </p:nvSpPr>
        <p:spPr>
          <a:xfrm>
            <a:off x="5834375" y="1360150"/>
            <a:ext cx="2025000" cy="155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6367925" y="952450"/>
            <a:ext cx="9579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시각화</a:t>
            </a:r>
            <a:r>
              <a:rPr b="1" lang="ko" sz="1200">
                <a:solidFill>
                  <a:schemeClr val="dk1"/>
                </a:solidFill>
                <a:highlight>
                  <a:srgbClr val="F6C700"/>
                </a:highlight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1" sz="1200">
              <a:solidFill>
                <a:schemeClr val="dk1"/>
              </a:solidFill>
              <a:highlight>
                <a:srgbClr val="F6C7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7"/>
          <p:cNvSpPr/>
          <p:nvPr/>
        </p:nvSpPr>
        <p:spPr>
          <a:xfrm>
            <a:off x="5844850" y="3313150"/>
            <a:ext cx="2025000" cy="155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7"/>
          <p:cNvSpPr txBox="1"/>
          <p:nvPr/>
        </p:nvSpPr>
        <p:spPr>
          <a:xfrm>
            <a:off x="6378400" y="2917125"/>
            <a:ext cx="9579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웹 개발</a:t>
            </a:r>
            <a:r>
              <a:rPr b="1" lang="ko" sz="1200">
                <a:solidFill>
                  <a:schemeClr val="dk1"/>
                </a:solidFill>
                <a:highlight>
                  <a:srgbClr val="F6C700"/>
                </a:highlight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1" sz="1200">
              <a:solidFill>
                <a:schemeClr val="dk1"/>
              </a:solidFill>
              <a:highlight>
                <a:srgbClr val="F6C7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rk Logo" id="351" name="Google Shape;351;p47"/>
          <p:cNvPicPr preferRelativeResize="0"/>
          <p:nvPr/>
        </p:nvPicPr>
        <p:blipFill rotWithShape="1">
          <a:blip r:embed="rId3">
            <a:alphaModFix/>
          </a:blip>
          <a:srcRect b="-8060" l="0" r="0" t="8060"/>
          <a:stretch/>
        </p:blipFill>
        <p:spPr>
          <a:xfrm>
            <a:off x="920600" y="2408875"/>
            <a:ext cx="1060700" cy="1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75" y="1448225"/>
            <a:ext cx="1713350" cy="8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7"/>
          <p:cNvSpPr txBox="1"/>
          <p:nvPr/>
        </p:nvSpPr>
        <p:spPr>
          <a:xfrm>
            <a:off x="767550" y="2089375"/>
            <a:ext cx="13668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Amazon Sales Dataset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Population of India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438450" y="3156525"/>
            <a:ext cx="2025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Amazon_Fashion review Dataset</a:t>
            </a:r>
            <a:endParaRPr b="1" sz="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Amazon_Fashion_Meta Dataset</a:t>
            </a:r>
            <a:endParaRPr b="1" sz="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55" name="Google Shape;35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275" y="3555525"/>
            <a:ext cx="650825" cy="6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1250" y="3452596"/>
            <a:ext cx="856694" cy="85667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7"/>
          <p:cNvSpPr txBox="1"/>
          <p:nvPr/>
        </p:nvSpPr>
        <p:spPr>
          <a:xfrm>
            <a:off x="1521200" y="4223675"/>
            <a:ext cx="8568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아마존 웨어하우스</a:t>
            </a:r>
            <a:endParaRPr b="1" sz="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381125" y="4223675"/>
            <a:ext cx="996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india zipcode</a:t>
            </a:r>
            <a:endParaRPr b="1" sz="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states_India</a:t>
            </a:r>
            <a:endParaRPr b="1" sz="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59" name="Google Shape;359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9951" y="1520925"/>
            <a:ext cx="613626" cy="7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08075" y="2155588"/>
            <a:ext cx="1366800" cy="83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82525" y="3081254"/>
            <a:ext cx="1307360" cy="57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60450" y="1647550"/>
            <a:ext cx="1060700" cy="42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66725" y="1525401"/>
            <a:ext cx="1547520" cy="371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08080" y="3764500"/>
            <a:ext cx="1231684" cy="5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27325" y="3488463"/>
            <a:ext cx="784950" cy="7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268050" y="4309277"/>
            <a:ext cx="1433390" cy="4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79504" y="1921263"/>
            <a:ext cx="1547521" cy="443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964425" y="2324400"/>
            <a:ext cx="650825" cy="6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465751" y="4006225"/>
            <a:ext cx="1215944" cy="7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289900" y="3017375"/>
            <a:ext cx="856800" cy="67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175298" y="2383063"/>
            <a:ext cx="1330381" cy="44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/>
          <p:nvPr/>
        </p:nvSpPr>
        <p:spPr>
          <a:xfrm>
            <a:off x="-200025" y="-2447245"/>
            <a:ext cx="9543900" cy="4265700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48"/>
          <p:cNvGrpSpPr/>
          <p:nvPr/>
        </p:nvGrpSpPr>
        <p:grpSpPr>
          <a:xfrm>
            <a:off x="704774" y="773597"/>
            <a:ext cx="7732669" cy="1368502"/>
            <a:chOff x="3311855" y="3736152"/>
            <a:chExt cx="4122991" cy="928050"/>
          </a:xfrm>
        </p:grpSpPr>
        <p:sp>
          <p:nvSpPr>
            <p:cNvPr id="378" name="Google Shape;378;p48"/>
            <p:cNvSpPr/>
            <p:nvPr/>
          </p:nvSpPr>
          <p:spPr>
            <a:xfrm>
              <a:off x="3311855" y="3817376"/>
              <a:ext cx="3757030" cy="846826"/>
            </a:xfrm>
            <a:custGeom>
              <a:rect b="b" l="l" r="r" t="t"/>
              <a:pathLst>
                <a:path extrusionOk="0" h="1039050" w="4609853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48"/>
            <p:cNvSpPr/>
            <p:nvPr/>
          </p:nvSpPr>
          <p:spPr>
            <a:xfrm>
              <a:off x="6662590" y="3736152"/>
              <a:ext cx="772256" cy="760602"/>
            </a:xfrm>
            <a:custGeom>
              <a:rect b="b" l="l" r="r" t="t"/>
              <a:pathLst>
                <a:path extrusionOk="0" h="933254" w="947553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48"/>
          <p:cNvSpPr txBox="1"/>
          <p:nvPr/>
        </p:nvSpPr>
        <p:spPr>
          <a:xfrm>
            <a:off x="679346" y="3577837"/>
            <a:ext cx="7785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사례 분석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3219284" y="2780550"/>
            <a:ext cx="2705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1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Chapter 2.</a:t>
            </a:r>
            <a:endParaRPr sz="4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/>
          <p:nvPr/>
        </p:nvSpPr>
        <p:spPr>
          <a:xfrm rot="2478991">
            <a:off x="-201962" y="-485553"/>
            <a:ext cx="938651" cy="1656737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9"/>
          <p:cNvSpPr/>
          <p:nvPr/>
        </p:nvSpPr>
        <p:spPr>
          <a:xfrm flipH="1" rot="-6601657">
            <a:off x="24050" y="-1002656"/>
            <a:ext cx="937967" cy="1657251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8" name="Google Shape;388;p49"/>
          <p:cNvGraphicFramePr/>
          <p:nvPr/>
        </p:nvGraphicFramePr>
        <p:xfrm>
          <a:off x="768850" y="92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{91BCD8CC-05F8-4146-BC7A-927B90F4ACF6}</a:tableStyleId>
              </a:tblPr>
              <a:tblGrid>
                <a:gridCol w="1504625"/>
                <a:gridCol w="2650100"/>
                <a:gridCol w="2675025"/>
                <a:gridCol w="719550"/>
                <a:gridCol w="472875"/>
              </a:tblGrid>
              <a:tr h="3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제공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데이터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설명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파일 형태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비고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kaggle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Amazon Sales Dataset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아마존 21년 6월 ~ 22년 6월 판매 데이터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csv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46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UCSD 연구실 Dataset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Amazon_Fashion review Dataset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아마존 2002~2023년 리뷰 데이터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json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46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UCSD 연구실 Dataset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Amazon_Fashion_Meta Dataset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json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구글맵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아마존 웨어하우스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웨어하우스 위치 정보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csv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Github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india zipcode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웨어하우스 위도,경도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txt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Github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states_India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인도 주 지도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geojson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kaggle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Population of India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인도 state별 인구 수 (2011년 기준)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csv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활용</a:t>
                      </a:r>
                      <a:endParaRPr b="1" sz="11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9" name="Google Shape;389;p49"/>
          <p:cNvSpPr txBox="1"/>
          <p:nvPr/>
        </p:nvSpPr>
        <p:spPr>
          <a:xfrm>
            <a:off x="1123857" y="1556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데이터 설명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50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395" name="Google Shape;395;p50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0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7" name="Google Shape;39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050" y="551388"/>
            <a:ext cx="2264250" cy="42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0"/>
          <p:cNvSpPr txBox="1"/>
          <p:nvPr/>
        </p:nvSpPr>
        <p:spPr>
          <a:xfrm>
            <a:off x="3968075" y="4029700"/>
            <a:ext cx="176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시계열데이터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(22.04.01 ~ 22.06.29)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- 21개 컬럼 존재 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0"/>
          <p:cNvSpPr txBox="1"/>
          <p:nvPr/>
        </p:nvSpPr>
        <p:spPr>
          <a:xfrm>
            <a:off x="126150" y="2052675"/>
            <a:ext cx="34338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- </a:t>
            </a:r>
            <a:r>
              <a:rPr b="1" lang="ko"/>
              <a:t>분석에 불필요한 내용 및 중복값 삭제</a:t>
            </a:r>
            <a:endParaRPr b="1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- 결측치 채우기</a:t>
            </a:r>
            <a:endParaRPr b="1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- 컬럼명, 타입 변환</a:t>
            </a:r>
            <a:endParaRPr b="1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- 새로운 컬럼 생성(매출, 축제)</a:t>
            </a:r>
            <a:endParaRPr b="1"/>
          </a:p>
        </p:txBody>
      </p:sp>
      <p:sp>
        <p:nvSpPr>
          <p:cNvPr id="400" name="Google Shape;400;p50"/>
          <p:cNvSpPr/>
          <p:nvPr/>
        </p:nvSpPr>
        <p:spPr>
          <a:xfrm>
            <a:off x="3231525" y="2331738"/>
            <a:ext cx="1188600" cy="69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0"/>
          <p:cNvSpPr txBox="1"/>
          <p:nvPr/>
        </p:nvSpPr>
        <p:spPr>
          <a:xfrm>
            <a:off x="-149475" y="1423450"/>
            <a:ext cx="3381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Amazon Sales Report </a:t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402" name="Google Shape;402;p50"/>
          <p:cNvPicPr preferRelativeResize="0"/>
          <p:nvPr/>
        </p:nvPicPr>
        <p:blipFill rotWithShape="1">
          <a:blip r:embed="rId4">
            <a:alphaModFix/>
          </a:blip>
          <a:srcRect b="0" l="91939" r="0" t="33386"/>
          <a:stretch/>
        </p:blipFill>
        <p:spPr>
          <a:xfrm>
            <a:off x="4841312" y="877188"/>
            <a:ext cx="737076" cy="29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0"/>
          <p:cNvSpPr txBox="1"/>
          <p:nvPr/>
        </p:nvSpPr>
        <p:spPr>
          <a:xfrm>
            <a:off x="1123857" y="155675"/>
            <a:ext cx="462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데이터 전처리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/>
          <p:nvPr/>
        </p:nvSpPr>
        <p:spPr>
          <a:xfrm rot="2478991">
            <a:off x="-201962" y="-485553"/>
            <a:ext cx="938651" cy="1656737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1"/>
          <p:cNvSpPr/>
          <p:nvPr/>
        </p:nvSpPr>
        <p:spPr>
          <a:xfrm flipH="1" rot="-6601657">
            <a:off x="24050" y="-1002656"/>
            <a:ext cx="937967" cy="1657251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1"/>
          <p:cNvSpPr/>
          <p:nvPr/>
        </p:nvSpPr>
        <p:spPr>
          <a:xfrm>
            <a:off x="751500" y="1559800"/>
            <a:ext cx="2315400" cy="130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 </a:t>
            </a: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매출액 추이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 매출액 인과관계 분석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1"/>
          <p:cNvSpPr/>
          <p:nvPr/>
        </p:nvSpPr>
        <p:spPr>
          <a:xfrm>
            <a:off x="3375375" y="1559800"/>
            <a:ext cx="2612100" cy="130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 </a:t>
            </a: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카테고리별 매출액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 카테고리별 가격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 카테고리별 매출액 월별 추이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1"/>
          <p:cNvSpPr/>
          <p:nvPr/>
        </p:nvSpPr>
        <p:spPr>
          <a:xfrm>
            <a:off x="6311600" y="1559800"/>
            <a:ext cx="2315400" cy="130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 </a:t>
            </a: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구매 행동 패턴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1"/>
          <p:cNvSpPr txBox="1"/>
          <p:nvPr/>
        </p:nvSpPr>
        <p:spPr>
          <a:xfrm>
            <a:off x="763775" y="1014825"/>
            <a:ext cx="2315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매출 분석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1"/>
          <p:cNvSpPr txBox="1"/>
          <p:nvPr/>
        </p:nvSpPr>
        <p:spPr>
          <a:xfrm>
            <a:off x="3555600" y="1014825"/>
            <a:ext cx="2315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</a:t>
            </a: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분석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1"/>
          <p:cNvSpPr txBox="1"/>
          <p:nvPr/>
        </p:nvSpPr>
        <p:spPr>
          <a:xfrm>
            <a:off x="6311600" y="1014825"/>
            <a:ext cx="2315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분석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1"/>
          <p:cNvSpPr txBox="1"/>
          <p:nvPr/>
        </p:nvSpPr>
        <p:spPr>
          <a:xfrm>
            <a:off x="1123848" y="1556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분석 목표 : 데이터 분석을 통한 매출액 증대 방안 도출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oogle Shape;421;p52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422" name="Google Shape;422;p52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2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4" name="Google Shape;4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00" y="1101461"/>
            <a:ext cx="5163783" cy="32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2"/>
          <p:cNvSpPr txBox="1"/>
          <p:nvPr/>
        </p:nvSpPr>
        <p:spPr>
          <a:xfrm>
            <a:off x="833400" y="4468375"/>
            <a:ext cx="3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4월, 5월, 6월 매출액 감소하는 추세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2"/>
          <p:cNvSpPr txBox="1"/>
          <p:nvPr/>
        </p:nvSpPr>
        <p:spPr>
          <a:xfrm>
            <a:off x="5355325" y="2185225"/>
            <a:ext cx="3628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매출액이 감소하는 원인을 파악하기 위한 </a:t>
            </a:r>
            <a:r>
              <a:rPr b="1" lang="ko" sz="1700"/>
              <a:t>인과관계 분석</a:t>
            </a:r>
            <a:r>
              <a:rPr lang="ko" sz="1700"/>
              <a:t>의 필요성 도출</a:t>
            </a:r>
            <a:r>
              <a:rPr b="1" lang="ko" sz="1700"/>
              <a:t> </a:t>
            </a:r>
            <a:endParaRPr b="1" sz="1700"/>
          </a:p>
        </p:txBody>
      </p:sp>
      <p:sp>
        <p:nvSpPr>
          <p:cNvPr id="427" name="Google Shape;427;p52"/>
          <p:cNvSpPr txBox="1"/>
          <p:nvPr/>
        </p:nvSpPr>
        <p:spPr>
          <a:xfrm>
            <a:off x="566652" y="758588"/>
            <a:ext cx="295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1. </a:t>
            </a:r>
            <a:r>
              <a:rPr b="1" lang="ko" sz="1200">
                <a:solidFill>
                  <a:schemeClr val="dk1"/>
                </a:solidFill>
              </a:rPr>
              <a:t>기간별 </a:t>
            </a:r>
            <a:r>
              <a:rPr b="1" lang="ko" sz="1200">
                <a:solidFill>
                  <a:schemeClr val="dk1"/>
                </a:solidFill>
              </a:rPr>
              <a:t>매출액 추이</a:t>
            </a:r>
            <a:endParaRPr b="1" sz="1200"/>
          </a:p>
        </p:txBody>
      </p:sp>
      <p:sp>
        <p:nvSpPr>
          <p:cNvPr id="428" name="Google Shape;428;p52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</a:t>
            </a: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53"/>
          <p:cNvGrpSpPr/>
          <p:nvPr/>
        </p:nvGrpSpPr>
        <p:grpSpPr>
          <a:xfrm>
            <a:off x="8219840" y="-844332"/>
            <a:ext cx="1582340" cy="1729312"/>
            <a:chOff x="10578244" y="-1141719"/>
            <a:chExt cx="2952128" cy="3226328"/>
          </a:xfrm>
        </p:grpSpPr>
        <p:sp>
          <p:nvSpPr>
            <p:cNvPr id="434" name="Google Shape;434;p53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53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53"/>
          <p:cNvSpPr/>
          <p:nvPr/>
        </p:nvSpPr>
        <p:spPr>
          <a:xfrm>
            <a:off x="5458625" y="1479500"/>
            <a:ext cx="2339400" cy="1009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매출액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3"/>
          <p:cNvSpPr/>
          <p:nvPr/>
        </p:nvSpPr>
        <p:spPr>
          <a:xfrm>
            <a:off x="1012150" y="1479500"/>
            <a:ext cx="2339400" cy="1009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56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5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3"/>
          <p:cNvSpPr/>
          <p:nvPr/>
        </p:nvSpPr>
        <p:spPr>
          <a:xfrm>
            <a:off x="3826813" y="1635800"/>
            <a:ext cx="1188600" cy="69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3"/>
          <p:cNvSpPr txBox="1"/>
          <p:nvPr/>
        </p:nvSpPr>
        <p:spPr>
          <a:xfrm>
            <a:off x="779750" y="2993450"/>
            <a:ext cx="70905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후보군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Amazon</a:t>
            </a:r>
            <a:r>
              <a:rPr lang="k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데이터셋에 존재하는 변수들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날짜, 배송, 제품코드, 지역, B2B 여부 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566649" y="758600"/>
            <a:ext cx="4595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2</a:t>
            </a:r>
            <a:r>
              <a:rPr b="1" lang="ko" sz="1200">
                <a:solidFill>
                  <a:schemeClr val="dk1"/>
                </a:solidFill>
              </a:rPr>
              <a:t>. </a:t>
            </a:r>
            <a:r>
              <a:rPr b="1" lang="ko" sz="1200">
                <a:solidFill>
                  <a:schemeClr val="dk1"/>
                </a:solidFill>
              </a:rPr>
              <a:t>인과관계 분석 : 매출액에 영향을 미치는 변수 찾기 </a:t>
            </a:r>
            <a:endParaRPr b="1" sz="1200"/>
          </a:p>
        </p:txBody>
      </p:sp>
      <p:sp>
        <p:nvSpPr>
          <p:cNvPr id="441" name="Google Shape;441;p53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54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447" name="Google Shape;447;p54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54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54"/>
          <p:cNvSpPr txBox="1"/>
          <p:nvPr/>
        </p:nvSpPr>
        <p:spPr>
          <a:xfrm>
            <a:off x="566649" y="758600"/>
            <a:ext cx="4507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3</a:t>
            </a:r>
            <a:r>
              <a:rPr b="1" lang="ko" sz="1200">
                <a:solidFill>
                  <a:schemeClr val="dk1"/>
                </a:solidFill>
              </a:rPr>
              <a:t>. 인과관계 분석을 </a:t>
            </a:r>
            <a:r>
              <a:rPr b="1" lang="ko" sz="1200">
                <a:solidFill>
                  <a:schemeClr val="dk1"/>
                </a:solidFill>
              </a:rPr>
              <a:t>위해서 변수 탐색하기</a:t>
            </a:r>
            <a:endParaRPr b="1" sz="1200"/>
          </a:p>
        </p:txBody>
      </p:sp>
      <p:pic>
        <p:nvPicPr>
          <p:cNvPr id="450" name="Google Shape;4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350" y="758600"/>
            <a:ext cx="2264250" cy="42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4"/>
          <p:cNvSpPr/>
          <p:nvPr/>
        </p:nvSpPr>
        <p:spPr>
          <a:xfrm>
            <a:off x="4623450" y="1597000"/>
            <a:ext cx="2034900" cy="528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4"/>
          <p:cNvSpPr/>
          <p:nvPr/>
        </p:nvSpPr>
        <p:spPr>
          <a:xfrm>
            <a:off x="4618025" y="2125900"/>
            <a:ext cx="2034900" cy="945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4"/>
          <p:cNvSpPr/>
          <p:nvPr/>
        </p:nvSpPr>
        <p:spPr>
          <a:xfrm>
            <a:off x="4618025" y="3247525"/>
            <a:ext cx="2034900" cy="387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4"/>
          <p:cNvSpPr/>
          <p:nvPr/>
        </p:nvSpPr>
        <p:spPr>
          <a:xfrm>
            <a:off x="4623450" y="3648700"/>
            <a:ext cx="2034900" cy="528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4"/>
          <p:cNvSpPr/>
          <p:nvPr/>
        </p:nvSpPr>
        <p:spPr>
          <a:xfrm>
            <a:off x="4599488" y="4191775"/>
            <a:ext cx="2034900" cy="253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4"/>
          <p:cNvSpPr/>
          <p:nvPr/>
        </p:nvSpPr>
        <p:spPr>
          <a:xfrm>
            <a:off x="4618025" y="4400075"/>
            <a:ext cx="2034900" cy="253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4"/>
          <p:cNvSpPr/>
          <p:nvPr/>
        </p:nvSpPr>
        <p:spPr>
          <a:xfrm>
            <a:off x="4618025" y="4755100"/>
            <a:ext cx="2034900" cy="253800"/>
          </a:xfrm>
          <a:prstGeom prst="rect">
            <a:avLst/>
          </a:prstGeom>
          <a:noFill/>
          <a:ln cap="flat" cmpd="sng" w="38100">
            <a:solidFill>
              <a:srgbClr val="F6C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4"/>
          <p:cNvSpPr txBox="1"/>
          <p:nvPr/>
        </p:nvSpPr>
        <p:spPr>
          <a:xfrm>
            <a:off x="158625" y="1175050"/>
            <a:ext cx="4286400" cy="4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&lt;독립변수&gt;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배송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ship_satus, fullfilment, ship_service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제품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style, sku,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product_category</a:t>
            </a: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size, asin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지역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city,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state</a:t>
            </a: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zip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프로모션 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promotion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고객 타입 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customer_type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축제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Festival Name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54"/>
          <p:cNvSpPr txBox="1"/>
          <p:nvPr/>
        </p:nvSpPr>
        <p:spPr>
          <a:xfrm>
            <a:off x="6788850" y="1175050"/>
            <a:ext cx="2507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&lt;종속변수&gt;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매출액 : order_amount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54"/>
          <p:cNvSpPr txBox="1"/>
          <p:nvPr/>
        </p:nvSpPr>
        <p:spPr>
          <a:xfrm>
            <a:off x="6788850" y="3071200"/>
            <a:ext cx="2507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b="1"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제외시키는 변수</a:t>
            </a:r>
            <a:r>
              <a:rPr b="1"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날짜, 주문번호, 주문량, 판매가격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p54"/>
          <p:cNvPicPr preferRelativeResize="0"/>
          <p:nvPr/>
        </p:nvPicPr>
        <p:blipFill rotWithShape="1">
          <a:blip r:embed="rId4">
            <a:alphaModFix/>
          </a:blip>
          <a:srcRect b="0" l="91939" r="0" t="33386"/>
          <a:stretch/>
        </p:blipFill>
        <p:spPr>
          <a:xfrm>
            <a:off x="3834912" y="1597000"/>
            <a:ext cx="737076" cy="29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4"/>
          <p:cNvSpPr/>
          <p:nvPr/>
        </p:nvSpPr>
        <p:spPr>
          <a:xfrm>
            <a:off x="3834900" y="1669275"/>
            <a:ext cx="737100" cy="528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4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55"/>
          <p:cNvGrpSpPr/>
          <p:nvPr/>
        </p:nvGrpSpPr>
        <p:grpSpPr>
          <a:xfrm>
            <a:off x="8219840" y="-844332"/>
            <a:ext cx="1582340" cy="1729312"/>
            <a:chOff x="10578244" y="-1141719"/>
            <a:chExt cx="2952128" cy="3226328"/>
          </a:xfrm>
        </p:grpSpPr>
        <p:sp>
          <p:nvSpPr>
            <p:cNvPr id="469" name="Google Shape;469;p55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55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55"/>
          <p:cNvSpPr txBox="1"/>
          <p:nvPr/>
        </p:nvSpPr>
        <p:spPr>
          <a:xfrm>
            <a:off x="566650" y="758600"/>
            <a:ext cx="5484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4</a:t>
            </a:r>
            <a:r>
              <a:rPr b="1" lang="ko" sz="1200">
                <a:solidFill>
                  <a:schemeClr val="dk1"/>
                </a:solidFill>
              </a:rPr>
              <a:t>. 인과관계 분석을 </a:t>
            </a:r>
            <a:r>
              <a:rPr b="1" lang="ko" sz="1200">
                <a:solidFill>
                  <a:schemeClr val="dk1"/>
                </a:solidFill>
              </a:rPr>
              <a:t>위한 해결해야 할 문제  </a:t>
            </a:r>
            <a:endParaRPr b="1" sz="1200"/>
          </a:p>
        </p:txBody>
      </p:sp>
      <p:sp>
        <p:nvSpPr>
          <p:cNvPr id="472" name="Google Shape;472;p55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73" name="Google Shape;473;p55"/>
          <p:cNvSpPr txBox="1"/>
          <p:nvPr/>
        </p:nvSpPr>
        <p:spPr>
          <a:xfrm>
            <a:off x="565700" y="1170300"/>
            <a:ext cx="230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24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독립 변수 선택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5"/>
          <p:cNvSpPr txBox="1"/>
          <p:nvPr/>
        </p:nvSpPr>
        <p:spPr>
          <a:xfrm>
            <a:off x="470899" y="1716700"/>
            <a:ext cx="2491200" cy="22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교란변수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confounder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: 원인변수와 결과변수 모두에 영향을 주는 변수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변수가 많아질수록 모델의 설명력은 높아질 수 있지만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다중공선성 문제,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비효율성, 결과 왜곡 등의 문제 등이 발생한다.</a:t>
            </a: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5"/>
          <p:cNvSpPr txBox="1"/>
          <p:nvPr/>
        </p:nvSpPr>
        <p:spPr>
          <a:xfrm>
            <a:off x="3425875" y="1170300"/>
            <a:ext cx="230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변수 타입 고려</a:t>
            </a: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5"/>
          <p:cNvSpPr txBox="1"/>
          <p:nvPr/>
        </p:nvSpPr>
        <p:spPr>
          <a:xfrm>
            <a:off x="3291024" y="1684650"/>
            <a:ext cx="2491200" cy="22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연속형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순서형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범주형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5"/>
          <p:cNvSpPr txBox="1"/>
          <p:nvPr/>
        </p:nvSpPr>
        <p:spPr>
          <a:xfrm>
            <a:off x="6432550" y="1170300"/>
            <a:ext cx="230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상관 분석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5"/>
          <p:cNvSpPr txBox="1"/>
          <p:nvPr/>
        </p:nvSpPr>
        <p:spPr>
          <a:xfrm>
            <a:off x="6192150" y="1684650"/>
            <a:ext cx="2491200" cy="22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상관관계 분석을 통해 변수간의 관계를 파악하여 적절한 독립변수의 선택을 결정할 수 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ko" sz="1100">
                <a:solidFill>
                  <a:schemeClr val="dk1"/>
                </a:solidFill>
              </a:rPr>
              <a:t>크래머V계수</a:t>
            </a:r>
            <a:r>
              <a:rPr lang="ko" sz="1100">
                <a:solidFill>
                  <a:schemeClr val="dk1"/>
                </a:solidFill>
              </a:rPr>
              <a:t> 활용하여 분석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56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484" name="Google Shape;484;p56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56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56"/>
          <p:cNvSpPr txBox="1"/>
          <p:nvPr/>
        </p:nvSpPr>
        <p:spPr>
          <a:xfrm>
            <a:off x="566650" y="758600"/>
            <a:ext cx="833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5</a:t>
            </a:r>
            <a:r>
              <a:rPr b="1" lang="ko" sz="1200">
                <a:solidFill>
                  <a:schemeClr val="dk1"/>
                </a:solidFill>
              </a:rPr>
              <a:t>. </a:t>
            </a:r>
            <a:r>
              <a:rPr b="1" lang="ko" sz="1200">
                <a:solidFill>
                  <a:schemeClr val="dk1"/>
                </a:solidFill>
              </a:rPr>
              <a:t>변수 간의 상관관계 분석 : 인과관계 분석시 어떤 독립변수를 선택하고자 할 때 선행되어야 할 분석</a:t>
            </a:r>
            <a:endParaRPr b="1" sz="1200"/>
          </a:p>
        </p:txBody>
      </p:sp>
      <p:pic>
        <p:nvPicPr>
          <p:cNvPr id="487" name="Google Shape;48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00" y="1243575"/>
            <a:ext cx="4741051" cy="37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/>
          <p:nvPr/>
        </p:nvSpPr>
        <p:spPr>
          <a:xfrm>
            <a:off x="529850" y="1088675"/>
            <a:ext cx="1810500" cy="1386000"/>
          </a:xfrm>
          <a:prstGeom prst="rect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6"/>
          <p:cNvSpPr/>
          <p:nvPr/>
        </p:nvSpPr>
        <p:spPr>
          <a:xfrm>
            <a:off x="561900" y="3570900"/>
            <a:ext cx="3885600" cy="560700"/>
          </a:xfrm>
          <a:prstGeom prst="rect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6"/>
          <p:cNvSpPr/>
          <p:nvPr/>
        </p:nvSpPr>
        <p:spPr>
          <a:xfrm>
            <a:off x="529850" y="2474675"/>
            <a:ext cx="3885600" cy="840000"/>
          </a:xfrm>
          <a:prstGeom prst="rect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6"/>
          <p:cNvSpPr txBox="1"/>
          <p:nvPr/>
        </p:nvSpPr>
        <p:spPr>
          <a:xfrm>
            <a:off x="5295700" y="1372975"/>
            <a:ext cx="3000000" cy="3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ship_status,</a:t>
            </a: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fullfilment, ship_servcie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서로 강한 상관관계</a:t>
            </a:r>
            <a:b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ship_status 선택 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</a:t>
            </a: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product_category , state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이진형 변수로 변환 어려움 </a:t>
            </a:r>
            <a:b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원핫인코딩 할 경우 차원의 증가 </a:t>
            </a:r>
            <a:b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⇒ 제외하기로 결정 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promotion, festival name 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약한 상관관계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</a:t>
            </a: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customer_type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2" name="Google Shape;492;p56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57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498" name="Google Shape;498;p57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57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0" name="Google Shape;500;p57"/>
          <p:cNvSpPr txBox="1"/>
          <p:nvPr/>
        </p:nvSpPr>
        <p:spPr>
          <a:xfrm>
            <a:off x="566649" y="758600"/>
            <a:ext cx="4507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6. 인과관계 분석 툴 : 선형회귀분석 </a:t>
            </a:r>
            <a:endParaRPr b="1" sz="1200"/>
          </a:p>
        </p:txBody>
      </p:sp>
      <p:sp>
        <p:nvSpPr>
          <p:cNvPr id="501" name="Google Shape;501;p57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2" name="Google Shape;502;p57"/>
          <p:cNvSpPr txBox="1"/>
          <p:nvPr/>
        </p:nvSpPr>
        <p:spPr>
          <a:xfrm>
            <a:off x="565700" y="1170300"/>
            <a:ext cx="230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24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변수 선택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7"/>
          <p:cNvSpPr txBox="1"/>
          <p:nvPr/>
        </p:nvSpPr>
        <p:spPr>
          <a:xfrm>
            <a:off x="470900" y="1716700"/>
            <a:ext cx="2491200" cy="22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독립 변수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매출에 영향을 미치는 변수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-"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promotion, festival, ship_status, customer_type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-"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이진형 변수로 변환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종속변수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order_amount(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매출액)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연속형 변수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7"/>
          <p:cNvSpPr txBox="1"/>
          <p:nvPr/>
        </p:nvSpPr>
        <p:spPr>
          <a:xfrm>
            <a:off x="3425875" y="1170300"/>
            <a:ext cx="230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가설 설립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7"/>
          <p:cNvSpPr txBox="1"/>
          <p:nvPr/>
        </p:nvSpPr>
        <p:spPr>
          <a:xfrm>
            <a:off x="3295975" y="1716700"/>
            <a:ext cx="2562300" cy="22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promotion  : 매출 증가 (+)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Festival : 매출 증가 (+)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주문 취소 : 매출 감소 ( - )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customer_type(customer/business)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: business 일 경우 매출액이 증가 (+)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7"/>
          <p:cNvSpPr txBox="1"/>
          <p:nvPr/>
        </p:nvSpPr>
        <p:spPr>
          <a:xfrm>
            <a:off x="6432550" y="1170300"/>
            <a:ext cx="230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3.선형회귀분석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6192150" y="1691725"/>
            <a:ext cx="2655300" cy="224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statsmodel 라이브러리 활용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종속변수가 연속형 변수이므로 로지스틱 회귀분석이 아닌 선형회귀분석 진행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58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13" name="Google Shape;513;p58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58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5" name="Google Shape;515;p58"/>
          <p:cNvSpPr txBox="1"/>
          <p:nvPr/>
        </p:nvSpPr>
        <p:spPr>
          <a:xfrm>
            <a:off x="566649" y="758600"/>
            <a:ext cx="4507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7</a:t>
            </a:r>
            <a:r>
              <a:rPr b="1" lang="ko" sz="1200">
                <a:solidFill>
                  <a:schemeClr val="dk1"/>
                </a:solidFill>
              </a:rPr>
              <a:t>. </a:t>
            </a:r>
            <a:r>
              <a:rPr b="1" lang="ko" sz="1200">
                <a:solidFill>
                  <a:schemeClr val="dk1"/>
                </a:solidFill>
              </a:rPr>
              <a:t>분석 결과 해석  </a:t>
            </a:r>
            <a:endParaRPr b="1" sz="1200"/>
          </a:p>
        </p:txBody>
      </p:sp>
      <p:pic>
        <p:nvPicPr>
          <p:cNvPr id="516" name="Google Shape;51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50" y="1037375"/>
            <a:ext cx="5512306" cy="3826299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8"/>
          <p:cNvSpPr txBox="1"/>
          <p:nvPr/>
        </p:nvSpPr>
        <p:spPr>
          <a:xfrm>
            <a:off x="5812000" y="1093200"/>
            <a:ext cx="3000000" cy="3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**R-squared(결정계수) : 0.174**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Fira Sans"/>
              <a:buChar char="-"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통계적으로 유의미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ra Sans"/>
              <a:buChar char="-"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매출액의 변동에 대해서 약 17% 에 대해서 설명이 가능하다.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결정계수 값 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promotion </a:t>
            </a:r>
            <a:r>
              <a:rPr lang="ko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+ 90.1454</a:t>
            </a:r>
            <a:endParaRPr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주문 취소 </a:t>
            </a:r>
            <a:r>
              <a:rPr lang="ko">
                <a:solidFill>
                  <a:srgbClr val="0000FF"/>
                </a:solidFill>
                <a:latin typeface="Fira Sans"/>
                <a:ea typeface="Fira Sans"/>
                <a:cs typeface="Fira Sans"/>
                <a:sym typeface="Fira Sans"/>
              </a:rPr>
              <a:t>- 385.0117</a:t>
            </a:r>
            <a:endParaRPr>
              <a:solidFill>
                <a:srgbClr val="0000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고객타입 “business” </a:t>
            </a:r>
            <a:r>
              <a:rPr lang="ko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+95.6867</a:t>
            </a:r>
            <a:endParaRPr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latin typeface="Fira Sans"/>
                <a:ea typeface="Fira Sans"/>
                <a:cs typeface="Fira Sans"/>
                <a:sym typeface="Fira Sans"/>
              </a:rPr>
              <a:t>축제 </a:t>
            </a:r>
            <a:r>
              <a:rPr lang="ko">
                <a:solidFill>
                  <a:srgbClr val="0000FF"/>
                </a:solidFill>
                <a:latin typeface="Fira Sans"/>
                <a:ea typeface="Fira Sans"/>
                <a:cs typeface="Fira Sans"/>
                <a:sym typeface="Fira Sans"/>
              </a:rPr>
              <a:t>- 5.8042</a:t>
            </a:r>
            <a:endParaRPr>
              <a:solidFill>
                <a:srgbClr val="0000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8" name="Google Shape;518;p58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매출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59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24" name="Google Shape;524;p59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59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6" name="Google Shape;5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00" y="1269550"/>
            <a:ext cx="5838274" cy="335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9"/>
          <p:cNvPicPr preferRelativeResize="0"/>
          <p:nvPr/>
        </p:nvPicPr>
        <p:blipFill rotWithShape="1">
          <a:blip r:embed="rId4">
            <a:alphaModFix/>
          </a:blip>
          <a:srcRect b="0" l="10313" r="0" t="10249"/>
          <a:stretch/>
        </p:blipFill>
        <p:spPr>
          <a:xfrm>
            <a:off x="5578800" y="1167025"/>
            <a:ext cx="3501101" cy="32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9"/>
          <p:cNvSpPr txBox="1"/>
          <p:nvPr/>
        </p:nvSpPr>
        <p:spPr>
          <a:xfrm>
            <a:off x="438452" y="783575"/>
            <a:ext cx="295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카테고리별 매출액</a:t>
            </a:r>
            <a:endParaRPr b="1" sz="1200"/>
          </a:p>
        </p:txBody>
      </p:sp>
      <p:sp>
        <p:nvSpPr>
          <p:cNvPr id="529" name="Google Shape;529;p59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제품 분석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60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35" name="Google Shape;535;p60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60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60"/>
          <p:cNvSpPr txBox="1"/>
          <p:nvPr/>
        </p:nvSpPr>
        <p:spPr>
          <a:xfrm>
            <a:off x="438452" y="783575"/>
            <a:ext cx="295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카테고리별 </a:t>
            </a:r>
            <a:r>
              <a:rPr b="1" lang="ko" sz="1200"/>
              <a:t>가격</a:t>
            </a:r>
            <a:endParaRPr b="1" sz="1200"/>
          </a:p>
        </p:txBody>
      </p:sp>
      <p:pic>
        <p:nvPicPr>
          <p:cNvPr id="538" name="Google Shape;53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25" y="1454200"/>
            <a:ext cx="6198000" cy="375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900" y="669525"/>
            <a:ext cx="4307173" cy="226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0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제품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p61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46" name="Google Shape;546;p61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1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p61"/>
          <p:cNvSpPr txBox="1"/>
          <p:nvPr/>
        </p:nvSpPr>
        <p:spPr>
          <a:xfrm>
            <a:off x="438452" y="783575"/>
            <a:ext cx="295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카테고리별 매출액의 월별 추이</a:t>
            </a:r>
            <a:endParaRPr b="1" sz="1200"/>
          </a:p>
        </p:txBody>
      </p:sp>
      <p:pic>
        <p:nvPicPr>
          <p:cNvPr id="549" name="Google Shape;54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50" y="1103350"/>
            <a:ext cx="5390970" cy="380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1"/>
          <p:cNvSpPr txBox="1"/>
          <p:nvPr/>
        </p:nvSpPr>
        <p:spPr>
          <a:xfrm>
            <a:off x="5720300" y="1811150"/>
            <a:ext cx="3063300" cy="1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Set, kurta 제품군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매출액 비중 높지만 감소하는 추세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Western Dress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- 매출이 상승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⇒ 비전통옷에 대한 수요가 증가하고 있는지 관찰할 필요 있음 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1" name="Google Shape;551;p61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제품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62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57" name="Google Shape;557;p62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62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p62"/>
          <p:cNvSpPr txBox="1"/>
          <p:nvPr/>
        </p:nvSpPr>
        <p:spPr>
          <a:xfrm>
            <a:off x="438449" y="783575"/>
            <a:ext cx="46677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 고객분석 : 장바구니 분석을 통하여 고객들의 구매 패턴 알아보기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1. </a:t>
            </a:r>
            <a:r>
              <a:rPr b="1" lang="ko" sz="1200">
                <a:solidFill>
                  <a:schemeClr val="dk1"/>
                </a:solidFill>
              </a:rPr>
              <a:t>장바구니 분석 가능하도록 데이터 가공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560" name="Google Shape;5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50" y="1610411"/>
            <a:ext cx="1702086" cy="2092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2361" y="1493000"/>
            <a:ext cx="6477866" cy="232721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2"/>
          <p:cNvSpPr/>
          <p:nvPr/>
        </p:nvSpPr>
        <p:spPr>
          <a:xfrm>
            <a:off x="1818655" y="2308163"/>
            <a:ext cx="1702200" cy="69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>
                <a:latin typeface="Fira Sans"/>
                <a:ea typeface="Fira Sans"/>
                <a:cs typeface="Fira Sans"/>
                <a:sym typeface="Fira Sans"/>
              </a:rPr>
              <a:t>data encoding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3" name="Google Shape;563;p62"/>
          <p:cNvSpPr txBox="1"/>
          <p:nvPr/>
        </p:nvSpPr>
        <p:spPr>
          <a:xfrm>
            <a:off x="293700" y="3876475"/>
            <a:ext cx="8231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주문번호별로 구매한 아이템셋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mlxtend 라이브러리 활용하여 데이터 인코딩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108,151 건의 거래와 1371 개의 아이템이 존재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64" name="Google Shape;564;p62"/>
          <p:cNvSpPr/>
          <p:nvPr/>
        </p:nvSpPr>
        <p:spPr>
          <a:xfrm>
            <a:off x="580025" y="1747925"/>
            <a:ext cx="737100" cy="210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62"/>
          <p:cNvSpPr/>
          <p:nvPr/>
        </p:nvSpPr>
        <p:spPr>
          <a:xfrm>
            <a:off x="1317125" y="1610375"/>
            <a:ext cx="456300" cy="2092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2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고객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oogle Shape;571;p63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72" name="Google Shape;572;p63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63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p63"/>
          <p:cNvSpPr txBox="1"/>
          <p:nvPr/>
        </p:nvSpPr>
        <p:spPr>
          <a:xfrm>
            <a:off x="438449" y="783575"/>
            <a:ext cx="46677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 고객분석 : 장바구니 분석을 통하여 고객들의 구매 패턴 알아보기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 2. </a:t>
            </a:r>
            <a:r>
              <a:rPr b="1" lang="ko" sz="1200">
                <a:solidFill>
                  <a:schemeClr val="dk1"/>
                </a:solidFill>
              </a:rPr>
              <a:t>Apriori 알고리즘을 활용한 장바구니 분석 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575" name="Google Shape;57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222" y="1600150"/>
            <a:ext cx="4242255" cy="2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3"/>
          <p:cNvSpPr txBox="1"/>
          <p:nvPr/>
        </p:nvSpPr>
        <p:spPr>
          <a:xfrm>
            <a:off x="438450" y="1659775"/>
            <a:ext cx="3297300" cy="26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Apriori 알고리즘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key idea : 빈도가 높은 항목 집합의 어떤 부분 집합도 그 자체가 높은 빈도를 가져야 한다. 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지지도 분석 결과</a:t>
            </a:r>
            <a:endParaRPr b="1"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최소 지지도 0.01 로 수행했음에도 불구하고 108,151 건의 거래에서 7건의 아이템 셋만 추출됨 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⇒  지지도, 향상도와 같은 연관 규칙 발견 어려움 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7" name="Google Shape;577;p63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고객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64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583" name="Google Shape;583;p64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4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p64"/>
          <p:cNvSpPr txBox="1"/>
          <p:nvPr/>
        </p:nvSpPr>
        <p:spPr>
          <a:xfrm>
            <a:off x="438449" y="783575"/>
            <a:ext cx="46677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 고객분석 : 장바구니 분석을 통하여 고객들의 구매 패턴 알아보기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 3. 단일상품/ 복수상품 구매비율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586" name="Google Shape;58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75" y="1584425"/>
            <a:ext cx="5472075" cy="22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4"/>
          <p:cNvSpPr txBox="1"/>
          <p:nvPr/>
        </p:nvSpPr>
        <p:spPr>
          <a:xfrm>
            <a:off x="5846700" y="2322975"/>
            <a:ext cx="32973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⇒  아마존 리뷰 데이터를 활용하여 </a:t>
            </a:r>
            <a:r>
              <a:rPr b="1" lang="ko" sz="1100">
                <a:solidFill>
                  <a:schemeClr val="dk1"/>
                </a:solidFill>
              </a:rPr>
              <a:t>추천시스템</a:t>
            </a:r>
            <a:r>
              <a:rPr lang="ko" sz="1100">
                <a:solidFill>
                  <a:schemeClr val="dk1"/>
                </a:solidFill>
              </a:rPr>
              <a:t>을 개발해 고객들의 </a:t>
            </a:r>
            <a:r>
              <a:rPr b="1" lang="ko" sz="1100">
                <a:solidFill>
                  <a:schemeClr val="dk1"/>
                </a:solidFill>
              </a:rPr>
              <a:t>구매 품목의 다양성</a:t>
            </a:r>
            <a:r>
              <a:rPr lang="ko" sz="1100">
                <a:solidFill>
                  <a:schemeClr val="dk1"/>
                </a:solidFill>
              </a:rPr>
              <a:t>을 유도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8" name="Google Shape;588;p64"/>
          <p:cNvSpPr txBox="1"/>
          <p:nvPr/>
        </p:nvSpPr>
        <p:spPr>
          <a:xfrm>
            <a:off x="418823" y="9235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사례분석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고객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분석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5"/>
          <p:cNvSpPr/>
          <p:nvPr/>
        </p:nvSpPr>
        <p:spPr>
          <a:xfrm>
            <a:off x="-200025" y="-2447245"/>
            <a:ext cx="9543900" cy="4265700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" name="Google Shape;594;p65"/>
          <p:cNvGrpSpPr/>
          <p:nvPr/>
        </p:nvGrpSpPr>
        <p:grpSpPr>
          <a:xfrm>
            <a:off x="704774" y="773597"/>
            <a:ext cx="7732669" cy="1368502"/>
            <a:chOff x="3311855" y="3736152"/>
            <a:chExt cx="4122991" cy="928050"/>
          </a:xfrm>
        </p:grpSpPr>
        <p:sp>
          <p:nvSpPr>
            <p:cNvPr id="595" name="Google Shape;595;p65"/>
            <p:cNvSpPr/>
            <p:nvPr/>
          </p:nvSpPr>
          <p:spPr>
            <a:xfrm>
              <a:off x="3311855" y="3817376"/>
              <a:ext cx="3757030" cy="846826"/>
            </a:xfrm>
            <a:custGeom>
              <a:rect b="b" l="l" r="r" t="t"/>
              <a:pathLst>
                <a:path extrusionOk="0" h="1039050" w="4609853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5"/>
            <p:cNvSpPr/>
            <p:nvPr/>
          </p:nvSpPr>
          <p:spPr>
            <a:xfrm>
              <a:off x="6662590" y="3736152"/>
              <a:ext cx="772256" cy="760602"/>
            </a:xfrm>
            <a:custGeom>
              <a:rect b="b" l="l" r="r" t="t"/>
              <a:pathLst>
                <a:path extrusionOk="0" h="933254" w="947553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7" name="Google Shape;597;p65"/>
          <p:cNvSpPr txBox="1"/>
          <p:nvPr/>
        </p:nvSpPr>
        <p:spPr>
          <a:xfrm>
            <a:off x="679346" y="3577837"/>
            <a:ext cx="7785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제안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65"/>
          <p:cNvSpPr txBox="1"/>
          <p:nvPr/>
        </p:nvSpPr>
        <p:spPr>
          <a:xfrm>
            <a:off x="3219284" y="2780550"/>
            <a:ext cx="2705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1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Chapter 3.</a:t>
            </a:r>
            <a:endParaRPr sz="4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6"/>
          <p:cNvSpPr/>
          <p:nvPr/>
        </p:nvSpPr>
        <p:spPr>
          <a:xfrm>
            <a:off x="118750" y="652500"/>
            <a:ext cx="8945400" cy="5178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66"/>
          <p:cNvSpPr txBox="1"/>
          <p:nvPr/>
        </p:nvSpPr>
        <p:spPr>
          <a:xfrm>
            <a:off x="161650" y="652500"/>
            <a:ext cx="89454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 내용 : </a:t>
            </a:r>
            <a:r>
              <a:rPr lang="ko" sz="1100">
                <a:solidFill>
                  <a:schemeClr val="dk1"/>
                </a:solidFill>
              </a:rPr>
              <a:t>복수구매율과 재구매율을 상승시키기 위한</a:t>
            </a:r>
            <a:r>
              <a:rPr lang="ko" sz="85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NCF  알고리즘을 이용한 추천 시스템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NCF 알고리즘 : </a:t>
            </a:r>
            <a:r>
              <a:rPr lang="ko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Neural Collaborative Filtering, G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MF와 MLP를 결합하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여 사용자와 상품간의 상호작용을 모델링하는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기반 알고리즘</a:t>
            </a:r>
            <a:endParaRPr sz="1100">
              <a:solidFill>
                <a:schemeClr val="dk1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6"/>
          <p:cNvSpPr txBox="1"/>
          <p:nvPr/>
        </p:nvSpPr>
        <p:spPr>
          <a:xfrm>
            <a:off x="184700" y="1170300"/>
            <a:ext cx="1854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24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6" name="Google Shape;606;p66"/>
          <p:cNvGrpSpPr/>
          <p:nvPr/>
        </p:nvGrpSpPr>
        <p:grpSpPr>
          <a:xfrm>
            <a:off x="25213" y="1558800"/>
            <a:ext cx="2709600" cy="2356200"/>
            <a:chOff x="25213" y="1558800"/>
            <a:chExt cx="2709600" cy="2356200"/>
          </a:xfrm>
        </p:grpSpPr>
        <p:sp>
          <p:nvSpPr>
            <p:cNvPr id="607" name="Google Shape;607;p66"/>
            <p:cNvSpPr/>
            <p:nvPr/>
          </p:nvSpPr>
          <p:spPr>
            <a:xfrm>
              <a:off x="373375" y="1558800"/>
              <a:ext cx="2318100" cy="2356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66"/>
            <p:cNvSpPr txBox="1"/>
            <p:nvPr/>
          </p:nvSpPr>
          <p:spPr>
            <a:xfrm>
              <a:off x="25213" y="1559375"/>
              <a:ext cx="2709600" cy="22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77049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AutoNum type="arabicPeriod"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review 데이터와 item meta 병합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77049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AutoNum type="arabicPeriod"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필요한 컬럼만 추출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67049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-"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rating, user_id, parent_asin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77049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AutoNum type="arabicPeriod"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평점에 따라 lables 열 결정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3점 이상 1, 아니면 0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77049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AutoNum type="arabicPeriod"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user_id와 parent_asin을 고유한 정수로 인코딩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77049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AutoNum type="arabicPeriod"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leave one out 방식으로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train, test 분리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9" name="Google Shape;60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000" y="3326400"/>
            <a:ext cx="1198125" cy="17401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10" name="Google Shape;610;p66"/>
          <p:cNvSpPr txBox="1"/>
          <p:nvPr/>
        </p:nvSpPr>
        <p:spPr>
          <a:xfrm>
            <a:off x="3403925" y="1170300"/>
            <a:ext cx="1317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모델 생성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6"/>
          <p:cNvSpPr/>
          <p:nvPr/>
        </p:nvSpPr>
        <p:spPr>
          <a:xfrm>
            <a:off x="3403925" y="1558800"/>
            <a:ext cx="2709600" cy="2025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6"/>
          <p:cNvSpPr txBox="1"/>
          <p:nvPr/>
        </p:nvSpPr>
        <p:spPr>
          <a:xfrm>
            <a:off x="3484350" y="1642975"/>
            <a:ext cx="25791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GMF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레이어와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레이어를 쌓은 뒤 Concatenated 진행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GMF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사용자와 상품의 특성을 내적하여 예측, 짐재특성을 학습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사용자와 상품릐 특성을 입력으로 사용하여 다층 신경망을 통해 추천 수행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66"/>
          <p:cNvPicPr preferRelativeResize="0"/>
          <p:nvPr/>
        </p:nvPicPr>
        <p:blipFill rotWithShape="1">
          <a:blip r:embed="rId4">
            <a:alphaModFix/>
          </a:blip>
          <a:srcRect b="0" l="0" r="3119" t="0"/>
          <a:stretch/>
        </p:blipFill>
        <p:spPr>
          <a:xfrm>
            <a:off x="5994775" y="1963425"/>
            <a:ext cx="3009876" cy="295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14" name="Google Shape;614;p66"/>
          <p:cNvSpPr txBox="1"/>
          <p:nvPr/>
        </p:nvSpPr>
        <p:spPr>
          <a:xfrm>
            <a:off x="2373363" y="3079200"/>
            <a:ext cx="7044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test_df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6"/>
          <p:cNvSpPr txBox="1"/>
          <p:nvPr/>
        </p:nvSpPr>
        <p:spPr>
          <a:xfrm>
            <a:off x="7160124" y="1716225"/>
            <a:ext cx="11982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NCF 함수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6"/>
          <p:cNvSpPr txBox="1"/>
          <p:nvPr/>
        </p:nvSpPr>
        <p:spPr>
          <a:xfrm>
            <a:off x="118748" y="7530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NCF 기반 추천 시스템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7"/>
          <p:cNvSpPr/>
          <p:nvPr/>
        </p:nvSpPr>
        <p:spPr>
          <a:xfrm>
            <a:off x="311575" y="977975"/>
            <a:ext cx="8433600" cy="388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7"/>
          <p:cNvSpPr txBox="1"/>
          <p:nvPr/>
        </p:nvSpPr>
        <p:spPr>
          <a:xfrm>
            <a:off x="373375" y="977975"/>
            <a:ext cx="8371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평가 지표 : MSE, RMSE, MAE, r2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7"/>
          <p:cNvSpPr txBox="1"/>
          <p:nvPr/>
        </p:nvSpPr>
        <p:spPr>
          <a:xfrm>
            <a:off x="311575" y="589475"/>
            <a:ext cx="4458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test 데이터 이용한 모델 성능 평가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7"/>
          <p:cNvSpPr txBox="1"/>
          <p:nvPr/>
        </p:nvSpPr>
        <p:spPr>
          <a:xfrm>
            <a:off x="373378" y="1575950"/>
            <a:ext cx="33858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 데이터 속 리뷰수별 사용자 수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7"/>
          <p:cNvSpPr/>
          <p:nvPr/>
        </p:nvSpPr>
        <p:spPr>
          <a:xfrm>
            <a:off x="5745575" y="1648750"/>
            <a:ext cx="2419500" cy="16008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7"/>
          <p:cNvSpPr txBox="1"/>
          <p:nvPr/>
        </p:nvSpPr>
        <p:spPr>
          <a:xfrm>
            <a:off x="6253423" y="1906000"/>
            <a:ext cx="14220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성능 평가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225" y="2292950"/>
            <a:ext cx="2266400" cy="745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75" y="1941975"/>
            <a:ext cx="4968377" cy="30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7"/>
          <p:cNvSpPr txBox="1"/>
          <p:nvPr/>
        </p:nvSpPr>
        <p:spPr>
          <a:xfrm>
            <a:off x="5469125" y="3406700"/>
            <a:ext cx="32397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학습데이터의 대부분의 사용자가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하나의 리뷰 작성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학습데이터의 유저가 테스트 데이터에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존재하지 않음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저하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7"/>
          <p:cNvSpPr/>
          <p:nvPr/>
        </p:nvSpPr>
        <p:spPr>
          <a:xfrm>
            <a:off x="7003025" y="3878700"/>
            <a:ext cx="171900" cy="172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7"/>
          <p:cNvSpPr/>
          <p:nvPr/>
        </p:nvSpPr>
        <p:spPr>
          <a:xfrm>
            <a:off x="7003025" y="4457025"/>
            <a:ext cx="171900" cy="172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7"/>
          <p:cNvSpPr txBox="1"/>
          <p:nvPr/>
        </p:nvSpPr>
        <p:spPr>
          <a:xfrm>
            <a:off x="311573" y="7530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NCF 기반 추천 시스템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8"/>
          <p:cNvSpPr/>
          <p:nvPr/>
        </p:nvSpPr>
        <p:spPr>
          <a:xfrm>
            <a:off x="311575" y="977975"/>
            <a:ext cx="8433600" cy="5178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8"/>
          <p:cNvSpPr txBox="1"/>
          <p:nvPr/>
        </p:nvSpPr>
        <p:spPr>
          <a:xfrm>
            <a:off x="373375" y="977975"/>
            <a:ext cx="83718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함수 : 사용자가 구매하지 않은 상품 중 선호확률 TOPN 리스트 추출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함수 : 사용자가 상품을 선호할 확률 계산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8"/>
          <p:cNvSpPr txBox="1"/>
          <p:nvPr/>
        </p:nvSpPr>
        <p:spPr>
          <a:xfrm>
            <a:off x="311575" y="589475"/>
            <a:ext cx="5887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개인 추천을 위한 Recommend 함수, Predict 함수 생성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8"/>
          <p:cNvSpPr txBox="1"/>
          <p:nvPr/>
        </p:nvSpPr>
        <p:spPr>
          <a:xfrm>
            <a:off x="373373" y="1560500"/>
            <a:ext cx="14220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함수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1" name="Google Shape;64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1872425"/>
            <a:ext cx="6004035" cy="196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42" name="Google Shape;642;p68"/>
          <p:cNvSpPr txBox="1"/>
          <p:nvPr/>
        </p:nvSpPr>
        <p:spPr>
          <a:xfrm>
            <a:off x="5914573" y="3932550"/>
            <a:ext cx="14220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함수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3" name="Google Shape;64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151" y="4244150"/>
            <a:ext cx="4872851" cy="605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44" name="Google Shape;644;p68"/>
          <p:cNvSpPr/>
          <p:nvPr/>
        </p:nvSpPr>
        <p:spPr>
          <a:xfrm>
            <a:off x="1940200" y="1979675"/>
            <a:ext cx="632700" cy="1812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8"/>
          <p:cNvSpPr txBox="1"/>
          <p:nvPr/>
        </p:nvSpPr>
        <p:spPr>
          <a:xfrm>
            <a:off x="3172225" y="1670075"/>
            <a:ext cx="4828200" cy="309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parent_asin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 열로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행으로 하여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lables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값으로 가진 피벗 테이블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6" name="Google Shape;646;p68"/>
          <p:cNvCxnSpPr>
            <a:stCxn id="644" idx="0"/>
            <a:endCxn id="645" idx="1"/>
          </p:cNvCxnSpPr>
          <p:nvPr/>
        </p:nvCxnSpPr>
        <p:spPr>
          <a:xfrm flipH="1" rot="10800000">
            <a:off x="2256550" y="1824875"/>
            <a:ext cx="915600" cy="15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68"/>
          <p:cNvSpPr txBox="1"/>
          <p:nvPr/>
        </p:nvSpPr>
        <p:spPr>
          <a:xfrm>
            <a:off x="311573" y="7530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NCF 기반 추천 시스템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9"/>
          <p:cNvSpPr/>
          <p:nvPr/>
        </p:nvSpPr>
        <p:spPr>
          <a:xfrm>
            <a:off x="311575" y="977975"/>
            <a:ext cx="8436300" cy="388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9"/>
          <p:cNvSpPr txBox="1"/>
          <p:nvPr/>
        </p:nvSpPr>
        <p:spPr>
          <a:xfrm>
            <a:off x="373375" y="977975"/>
            <a:ext cx="8233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학습된 모델과 recommend 함수 이용하여 개인 추천 상품 추출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9"/>
          <p:cNvSpPr txBox="1"/>
          <p:nvPr/>
        </p:nvSpPr>
        <p:spPr>
          <a:xfrm>
            <a:off x="311575" y="589475"/>
            <a:ext cx="3757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Recommend Model 사용하여 추천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9"/>
          <p:cNvSpPr txBox="1"/>
          <p:nvPr/>
        </p:nvSpPr>
        <p:spPr>
          <a:xfrm>
            <a:off x="1569100" y="3481475"/>
            <a:ext cx="732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결과 값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588" y="1508262"/>
            <a:ext cx="5041113" cy="24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57" name="Google Shape;657;p69"/>
          <p:cNvSpPr txBox="1"/>
          <p:nvPr/>
        </p:nvSpPr>
        <p:spPr>
          <a:xfrm>
            <a:off x="4161850" y="1897250"/>
            <a:ext cx="4828200" cy="309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parent_asin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 열로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행으로 하여 </a:t>
            </a: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lables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값으로 가진 피벗 테이블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9"/>
          <p:cNvSpPr/>
          <p:nvPr/>
        </p:nvSpPr>
        <p:spPr>
          <a:xfrm>
            <a:off x="5265275" y="1541263"/>
            <a:ext cx="933300" cy="1812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p69"/>
          <p:cNvCxnSpPr>
            <a:stCxn id="658" idx="2"/>
            <a:endCxn id="657" idx="0"/>
          </p:cNvCxnSpPr>
          <p:nvPr/>
        </p:nvCxnSpPr>
        <p:spPr>
          <a:xfrm>
            <a:off x="5731925" y="1722463"/>
            <a:ext cx="843900" cy="1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0" name="Google Shape;66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0200" y="2274350"/>
            <a:ext cx="3504828" cy="277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61" name="Google Shape;661;p69"/>
          <p:cNvSpPr txBox="1"/>
          <p:nvPr/>
        </p:nvSpPr>
        <p:spPr>
          <a:xfrm>
            <a:off x="3839850" y="2274350"/>
            <a:ext cx="8439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상품 ID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69"/>
          <p:cNvSpPr txBox="1"/>
          <p:nvPr/>
        </p:nvSpPr>
        <p:spPr>
          <a:xfrm>
            <a:off x="4961675" y="2274350"/>
            <a:ext cx="9333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선호 확률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9"/>
          <p:cNvSpPr txBox="1"/>
          <p:nvPr/>
        </p:nvSpPr>
        <p:spPr>
          <a:xfrm>
            <a:off x="311573" y="7530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NCF 기반 추천 시스템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0"/>
          <p:cNvSpPr txBox="1"/>
          <p:nvPr/>
        </p:nvSpPr>
        <p:spPr>
          <a:xfrm>
            <a:off x="445102" y="968150"/>
            <a:ext cx="3147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1. </a:t>
            </a:r>
            <a:r>
              <a:rPr b="1" lang="ko" sz="1600">
                <a:solidFill>
                  <a:schemeClr val="dk1"/>
                </a:solidFill>
              </a:rPr>
              <a:t>웨어하우스 위치제안 동기 </a:t>
            </a:r>
            <a:endParaRPr b="1" sz="1500"/>
          </a:p>
        </p:txBody>
      </p:sp>
      <p:grpSp>
        <p:nvGrpSpPr>
          <p:cNvPr id="669" name="Google Shape;669;p70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670" name="Google Shape;670;p70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70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2" name="Google Shape;672;p70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73" name="Google Shape;673;p70"/>
          <p:cNvSpPr txBox="1"/>
          <p:nvPr/>
        </p:nvSpPr>
        <p:spPr>
          <a:xfrm>
            <a:off x="5627188" y="3542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74" name="Google Shape;674;p70"/>
          <p:cNvSpPr txBox="1"/>
          <p:nvPr/>
        </p:nvSpPr>
        <p:spPr>
          <a:xfrm>
            <a:off x="231425" y="4316375"/>
            <a:ext cx="5653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70"/>
          <p:cNvSpPr/>
          <p:nvPr/>
        </p:nvSpPr>
        <p:spPr>
          <a:xfrm>
            <a:off x="6281375" y="2074638"/>
            <a:ext cx="2401200" cy="1623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웨어하우스 추가 설치 장점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빠른배송 - 소비자 만족도 상승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 다양성 - 저장공간 ^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운송비용 절감 - 경로 최적화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경쟁 우위 - 시장 점유율 상승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재해 대비력 강화 - 위험 완화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299" y="1367776"/>
            <a:ext cx="3419101" cy="23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70"/>
          <p:cNvSpPr txBox="1"/>
          <p:nvPr/>
        </p:nvSpPr>
        <p:spPr>
          <a:xfrm>
            <a:off x="1779550" y="3777625"/>
            <a:ext cx="419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출처 : </a:t>
            </a:r>
            <a:r>
              <a:rPr lang="ko" sz="800" u="sng">
                <a:solidFill>
                  <a:schemeClr val="hlink"/>
                </a:solidFill>
                <a:highlight>
                  <a:schemeClr val="lt1"/>
                </a:highlight>
                <a:hlinkClick r:id="rId4"/>
              </a:rPr>
              <a:t>ttps://stockarea.io/blogs/amazon-vs-flipkart-who-is-dominating-indian-ecommerce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70"/>
          <p:cNvSpPr/>
          <p:nvPr/>
        </p:nvSpPr>
        <p:spPr>
          <a:xfrm>
            <a:off x="445100" y="2137813"/>
            <a:ext cx="1742775" cy="1496925"/>
          </a:xfrm>
          <a:prstGeom prst="flowChartOnlineStorag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인도 이커머스 시장 점유율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플립카트 60% &gt; 아마존 30%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70"/>
          <p:cNvSpPr txBox="1"/>
          <p:nvPr/>
        </p:nvSpPr>
        <p:spPr>
          <a:xfrm>
            <a:off x="311573" y="7530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1"/>
          <p:cNvSpPr txBox="1"/>
          <p:nvPr/>
        </p:nvSpPr>
        <p:spPr>
          <a:xfrm>
            <a:off x="494223" y="652500"/>
            <a:ext cx="5630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/>
              <a:t>2. 데이터 전처리 및 주문량 확인 및 아마존 웨어하우스 위치 확인</a:t>
            </a:r>
            <a:endParaRPr b="1" sz="1600"/>
          </a:p>
        </p:txBody>
      </p:sp>
      <p:grpSp>
        <p:nvGrpSpPr>
          <p:cNvPr id="685" name="Google Shape;685;p71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686" name="Google Shape;686;p71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71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8" name="Google Shape;688;p71"/>
          <p:cNvSpPr txBox="1"/>
          <p:nvPr/>
        </p:nvSpPr>
        <p:spPr>
          <a:xfrm>
            <a:off x="5627188" y="3542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689" name="Google Shape;68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438" y="1037375"/>
            <a:ext cx="4805275" cy="391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690" name="Google Shape;690;p71"/>
          <p:cNvSpPr/>
          <p:nvPr/>
        </p:nvSpPr>
        <p:spPr>
          <a:xfrm>
            <a:off x="725850" y="1256963"/>
            <a:ext cx="2154300" cy="142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아마존 세일즈 데이터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불필요한 컬럼제거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data 제거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복합되는 주문ID 삭제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인도 주 이름 평준화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수치계산을 위한 데이터 형변환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71"/>
          <p:cNvSpPr/>
          <p:nvPr/>
        </p:nvSpPr>
        <p:spPr>
          <a:xfrm>
            <a:off x="725850" y="2974150"/>
            <a:ext cx="2052600" cy="143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(구글맵 수집) / Flipkart 웨어하우스 데이터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인도 주 이름 평준화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짚코드 수정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잘못 기재되어있는 주소란 삭제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71"/>
          <p:cNvSpPr txBox="1"/>
          <p:nvPr/>
        </p:nvSpPr>
        <p:spPr>
          <a:xfrm>
            <a:off x="311573" y="75300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2"/>
          <p:cNvSpPr txBox="1"/>
          <p:nvPr/>
        </p:nvSpPr>
        <p:spPr>
          <a:xfrm>
            <a:off x="342598" y="143725"/>
            <a:ext cx="539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98" name="Google Shape;698;p72"/>
          <p:cNvSpPr txBox="1"/>
          <p:nvPr/>
        </p:nvSpPr>
        <p:spPr>
          <a:xfrm>
            <a:off x="342605" y="652550"/>
            <a:ext cx="378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600">
                <a:solidFill>
                  <a:schemeClr val="dk1"/>
                </a:solidFill>
              </a:rPr>
              <a:t>3. 주 별 인구수와 합산 주문량 비교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699" name="Google Shape;699;p72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00" name="Google Shape;700;p72"/>
          <p:cNvSpPr txBox="1"/>
          <p:nvPr/>
        </p:nvSpPr>
        <p:spPr>
          <a:xfrm>
            <a:off x="5627188" y="3542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01" name="Google Shape;70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075" y="888700"/>
            <a:ext cx="4139849" cy="336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grpSp>
        <p:nvGrpSpPr>
          <p:cNvPr id="702" name="Google Shape;702;p72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03" name="Google Shape;703;p72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72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5" name="Google Shape;70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75" y="1318963"/>
            <a:ext cx="4472623" cy="26591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3"/>
          <p:cNvSpPr txBox="1"/>
          <p:nvPr/>
        </p:nvSpPr>
        <p:spPr>
          <a:xfrm>
            <a:off x="438448" y="215625"/>
            <a:ext cx="539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11" name="Google Shape;711;p73"/>
          <p:cNvSpPr txBox="1"/>
          <p:nvPr/>
        </p:nvSpPr>
        <p:spPr>
          <a:xfrm>
            <a:off x="394375" y="700425"/>
            <a:ext cx="44196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/>
              <a:t>4. 주 별 인구수 와 합산 주문량 비교 맵 &amp; 차트</a:t>
            </a:r>
            <a:endParaRPr b="1" sz="16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grpSp>
        <p:nvGrpSpPr>
          <p:cNvPr id="712" name="Google Shape;712;p73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13" name="Google Shape;713;p73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73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5" name="Google Shape;715;p73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16" name="Google Shape;716;p73"/>
          <p:cNvSpPr txBox="1"/>
          <p:nvPr/>
        </p:nvSpPr>
        <p:spPr>
          <a:xfrm>
            <a:off x="5627188" y="3542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17" name="Google Shape;71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75" y="968150"/>
            <a:ext cx="3961301" cy="4124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718" name="Google Shape;71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950" y="928281"/>
            <a:ext cx="4419600" cy="420442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4"/>
          <p:cNvSpPr txBox="1"/>
          <p:nvPr/>
        </p:nvSpPr>
        <p:spPr>
          <a:xfrm>
            <a:off x="274575" y="714200"/>
            <a:ext cx="4500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/>
              <a:t>5. 아마존 경쟁사 flipkart 웨어하우스 위치 파악</a:t>
            </a:r>
            <a:endParaRPr b="1" sz="1600"/>
          </a:p>
        </p:txBody>
      </p:sp>
      <p:grpSp>
        <p:nvGrpSpPr>
          <p:cNvPr id="724" name="Google Shape;724;p74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25" name="Google Shape;725;p74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74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74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28" name="Google Shape;728;p74"/>
          <p:cNvSpPr txBox="1"/>
          <p:nvPr/>
        </p:nvSpPr>
        <p:spPr>
          <a:xfrm>
            <a:off x="5627188" y="3542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29" name="Google Shape;72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425" y="968157"/>
            <a:ext cx="4098739" cy="387054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99999" dist="95250">
              <a:srgbClr val="000000">
                <a:alpha val="40000"/>
              </a:srgbClr>
            </a:outerShdw>
          </a:effectLst>
        </p:spPr>
      </p:pic>
      <p:pic>
        <p:nvPicPr>
          <p:cNvPr id="730" name="Google Shape;73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91599"/>
            <a:ext cx="4211625" cy="284178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200000" dist="95250">
              <a:srgbClr val="000000">
                <a:alpha val="40000"/>
              </a:srgbClr>
            </a:outerShdw>
          </a:effectLst>
        </p:spPr>
      </p:pic>
      <p:sp>
        <p:nvSpPr>
          <p:cNvPr id="731" name="Google Shape;731;p74"/>
          <p:cNvSpPr txBox="1"/>
          <p:nvPr/>
        </p:nvSpPr>
        <p:spPr>
          <a:xfrm>
            <a:off x="274575" y="1310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5"/>
          <p:cNvSpPr txBox="1"/>
          <p:nvPr/>
        </p:nvSpPr>
        <p:spPr>
          <a:xfrm>
            <a:off x="438448" y="215625"/>
            <a:ext cx="5391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600">
                <a:solidFill>
                  <a:schemeClr val="dk1"/>
                </a:solidFill>
              </a:rPr>
              <a:t>6. 결론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37" name="Google Shape;737;p75"/>
          <p:cNvSpPr txBox="1"/>
          <p:nvPr/>
        </p:nvSpPr>
        <p:spPr>
          <a:xfrm>
            <a:off x="312700" y="1381375"/>
            <a:ext cx="41025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결론 : 총 주문량이 top15 (3개월 합산 2000건 이상)안에 들고, 인구가 150만이상인 지역, 아마존 웨어하우스는 없지만 flipkart 웨어하우스가 있는 지역을 선별하여 총 6개 지역으로 웨어하우스 설립 위치제안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/>
              <a:t>Kerala, Andhra Pradesh, Rajasthan, Bihar, Odisha, Madhya Pradesh</a:t>
            </a:r>
            <a:endParaRPr sz="1100"/>
          </a:p>
        </p:txBody>
      </p:sp>
      <p:grpSp>
        <p:nvGrpSpPr>
          <p:cNvPr id="738" name="Google Shape;738;p75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39" name="Google Shape;739;p75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75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1" name="Google Shape;741;p75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42" name="Google Shape;742;p75"/>
          <p:cNvSpPr txBox="1"/>
          <p:nvPr/>
        </p:nvSpPr>
        <p:spPr>
          <a:xfrm>
            <a:off x="5627188" y="3542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43" name="Google Shape;74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600" y="564100"/>
            <a:ext cx="4267125" cy="442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6"/>
          <p:cNvSpPr txBox="1"/>
          <p:nvPr/>
        </p:nvSpPr>
        <p:spPr>
          <a:xfrm>
            <a:off x="438450" y="153975"/>
            <a:ext cx="6602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49" name="Google Shape;749;p76"/>
          <p:cNvSpPr txBox="1"/>
          <p:nvPr/>
        </p:nvSpPr>
        <p:spPr>
          <a:xfrm>
            <a:off x="502352" y="681775"/>
            <a:ext cx="3162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그 외 - zipcode 분류 및 상관관계 파악</a:t>
            </a:r>
            <a:endParaRPr b="1"/>
          </a:p>
        </p:txBody>
      </p:sp>
      <p:grpSp>
        <p:nvGrpSpPr>
          <p:cNvPr id="750" name="Google Shape;750;p76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51" name="Google Shape;751;p76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76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Google Shape;753;p76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54" name="Google Shape;75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75" y="920275"/>
            <a:ext cx="4404476" cy="3830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755" name="Google Shape;75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300" y="1735050"/>
            <a:ext cx="3917700" cy="2067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7"/>
          <p:cNvSpPr txBox="1"/>
          <p:nvPr/>
        </p:nvSpPr>
        <p:spPr>
          <a:xfrm>
            <a:off x="502275" y="143750"/>
            <a:ext cx="66396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61" name="Google Shape;761;p77"/>
          <p:cNvSpPr txBox="1"/>
          <p:nvPr/>
        </p:nvSpPr>
        <p:spPr>
          <a:xfrm>
            <a:off x="3385489" y="244646"/>
            <a:ext cx="258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pSp>
        <p:nvGrpSpPr>
          <p:cNvPr id="762" name="Google Shape;762;p77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63" name="Google Shape;763;p77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77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77"/>
          <p:cNvSpPr txBox="1"/>
          <p:nvPr/>
        </p:nvSpPr>
        <p:spPr>
          <a:xfrm>
            <a:off x="6850185" y="775857"/>
            <a:ext cx="132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66" name="Google Shape;766;p77"/>
          <p:cNvSpPr txBox="1"/>
          <p:nvPr/>
        </p:nvSpPr>
        <p:spPr>
          <a:xfrm>
            <a:off x="547615" y="660650"/>
            <a:ext cx="33093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그 외 - zipcode 분류 및 상관관계 파악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67" name="Google Shape;76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75" y="969483"/>
            <a:ext cx="4063329" cy="398040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768" name="Google Shape;76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025" y="775850"/>
            <a:ext cx="3941025" cy="4367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8"/>
          <p:cNvSpPr txBox="1"/>
          <p:nvPr/>
        </p:nvSpPr>
        <p:spPr>
          <a:xfrm>
            <a:off x="545825" y="119775"/>
            <a:ext cx="69501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warehouse 위치 제안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774" name="Google Shape;774;p78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75" name="Google Shape;775;p78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8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78"/>
          <p:cNvSpPr txBox="1"/>
          <p:nvPr/>
        </p:nvSpPr>
        <p:spPr>
          <a:xfrm>
            <a:off x="545837" y="617100"/>
            <a:ext cx="2974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그 외 - 풀필먼트 타입에 따른 취소율 비교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8" name="Google Shape;778;p78"/>
          <p:cNvSpPr txBox="1"/>
          <p:nvPr/>
        </p:nvSpPr>
        <p:spPr>
          <a:xfrm>
            <a:off x="5885563" y="2156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79" name="Google Shape;77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25" y="1081875"/>
            <a:ext cx="5086076" cy="3730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780" name="Google Shape;78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05550"/>
            <a:ext cx="4522549" cy="2596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5" name="Google Shape;785;p79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86" name="Google Shape;786;p79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79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8" name="Google Shape;78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00175"/>
            <a:ext cx="4169175" cy="41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9"/>
          <p:cNvSpPr txBox="1"/>
          <p:nvPr/>
        </p:nvSpPr>
        <p:spPr>
          <a:xfrm>
            <a:off x="571475" y="1204463"/>
            <a:ext cx="36408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Amazon Easystore란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온라인 쇼핑이 익숙하지 않은 새로운 사용자 대상으로 하는 매장이며, 아마존의 다양한 제품을 직접 체험하고, 매장 직원의 도움을 받아 상품을 주문 및 결제할 수 있는 시설</a:t>
            </a:r>
            <a:endParaRPr sz="13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이러한 Amazon Easystore 위치 제안은 온라인 쇼핑을 경험하지 못한 미래 고객 확보를 통하여 점유율 확대를 목표로 함</a:t>
            </a:r>
            <a:endParaRPr sz="13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79"/>
          <p:cNvSpPr txBox="1"/>
          <p:nvPr/>
        </p:nvSpPr>
        <p:spPr>
          <a:xfrm>
            <a:off x="311573" y="2229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Amazon Easystore 위치 제안</a:t>
            </a:r>
            <a:r>
              <a:rPr lang="ko" sz="25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050" y="1182675"/>
            <a:ext cx="4079400" cy="3639000"/>
          </a:xfrm>
          <a:prstGeom prst="roundRect">
            <a:avLst>
              <a:gd fmla="val 84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grpSp>
        <p:nvGrpSpPr>
          <p:cNvPr id="796" name="Google Shape;796;p80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797" name="Google Shape;797;p80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80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9" name="Google Shape;799;p80"/>
          <p:cNvSpPr txBox="1"/>
          <p:nvPr/>
        </p:nvSpPr>
        <p:spPr>
          <a:xfrm>
            <a:off x="438450" y="800175"/>
            <a:ext cx="4224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1.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데이터 전처리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00" name="Google Shape;80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1750" y="2607275"/>
            <a:ext cx="3253800" cy="1569000"/>
          </a:xfrm>
          <a:prstGeom prst="roundRect">
            <a:avLst>
              <a:gd fmla="val 4561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801" name="Google Shape;80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449" y="3564574"/>
            <a:ext cx="4662000" cy="909000"/>
          </a:xfrm>
          <a:prstGeom prst="roundRect">
            <a:avLst>
              <a:gd fmla="val 638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802" name="Google Shape;802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1850" y="4274700"/>
            <a:ext cx="4745400" cy="599700"/>
          </a:xfrm>
          <a:prstGeom prst="roundRect">
            <a:avLst>
              <a:gd fmla="val 757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803" name="Google Shape;803;p80"/>
          <p:cNvSpPr/>
          <p:nvPr/>
        </p:nvSpPr>
        <p:spPr>
          <a:xfrm>
            <a:off x="438450" y="1246625"/>
            <a:ext cx="3843300" cy="2085300"/>
          </a:xfrm>
          <a:prstGeom prst="roundRect">
            <a:avLst>
              <a:gd fmla="val 3610" name="adj"/>
            </a:avLst>
          </a:prstGeom>
          <a:solidFill>
            <a:srgbClr val="F7F7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62000" spcFirstLastPara="1" rIns="0" wrap="square" tIns="162000">
            <a:noAutofit/>
          </a:bodyPr>
          <a:lstStyle/>
          <a:p>
            <a:pPr indent="-148200" lvl="0" marL="1799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"/>
              <a:buChar char="●"/>
            </a:pPr>
            <a:r>
              <a:rPr lang="ko" sz="1200">
                <a:latin typeface="Fira Sans"/>
                <a:ea typeface="Fira Sans"/>
                <a:cs typeface="Fira Sans"/>
                <a:sym typeface="Fira Sans"/>
              </a:rPr>
              <a:t>컬럼 명 재정의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-148200" lvl="0" marL="1799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"/>
              <a:buChar char="●"/>
            </a:pPr>
            <a:r>
              <a:rPr lang="ko" sz="1200">
                <a:latin typeface="Fira Sans"/>
                <a:ea typeface="Fira Sans"/>
                <a:cs typeface="Fira Sans"/>
                <a:sym typeface="Fira Sans"/>
              </a:rPr>
              <a:t>불필요한 컬럼 및 데이터 제거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-148200" lvl="0" marL="1799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"/>
              <a:buChar char="●"/>
            </a:pPr>
            <a:r>
              <a:rPr lang="ko" sz="1200">
                <a:latin typeface="Fira Sans"/>
                <a:ea typeface="Fira Sans"/>
                <a:cs typeface="Fira Sans"/>
                <a:sym typeface="Fira Sans"/>
              </a:rPr>
              <a:t>결측치 대체 및 제거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-149900" lvl="0" marL="3168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"/>
              <a:buChar char="-"/>
            </a:pPr>
            <a:r>
              <a:rPr lang="ko" sz="1000">
                <a:latin typeface="Fira Sans"/>
                <a:ea typeface="Fira Sans"/>
                <a:cs typeface="Fira Sans"/>
                <a:sym typeface="Fira Sans"/>
              </a:rPr>
              <a:t>Amount 결측치 동일 제품번호 최빈 값으로 처리</a:t>
            </a:r>
            <a:endParaRPr sz="1000">
              <a:latin typeface="Fira Sans"/>
              <a:ea typeface="Fira Sans"/>
              <a:cs typeface="Fira Sans"/>
              <a:sym typeface="Fira Sans"/>
            </a:endParaRPr>
          </a:p>
          <a:p>
            <a:pPr indent="-149900" lvl="0" marL="3168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"/>
              <a:buChar char="-"/>
            </a:pPr>
            <a:r>
              <a:rPr lang="ko" sz="1000">
                <a:latin typeface="Fira Sans"/>
                <a:ea typeface="Fira Sans"/>
                <a:cs typeface="Fira Sans"/>
                <a:sym typeface="Fira Sans"/>
              </a:rPr>
              <a:t>참고할 동일 제품번호 없을 시 동일 카테고리 평균 값으로 대체</a:t>
            </a:r>
            <a:endParaRPr sz="1000">
              <a:latin typeface="Fira Sans"/>
              <a:ea typeface="Fira Sans"/>
              <a:cs typeface="Fira Sans"/>
              <a:sym typeface="Fira Sans"/>
            </a:endParaRPr>
          </a:p>
          <a:p>
            <a:pPr indent="-148200" lvl="0" marL="1799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"/>
              <a:buChar char="●"/>
            </a:pPr>
            <a:r>
              <a:rPr lang="ko" sz="1200">
                <a:latin typeface="Fira Sans"/>
                <a:ea typeface="Fira Sans"/>
                <a:cs typeface="Fira Sans"/>
                <a:sym typeface="Fira Sans"/>
              </a:rPr>
              <a:t>state(주) 지역 명 통일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-148200" lvl="0" marL="1799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"/>
              <a:buChar char="●"/>
            </a:pPr>
            <a:r>
              <a:rPr lang="ko" sz="1200">
                <a:latin typeface="Fira Sans"/>
                <a:ea typeface="Fira Sans"/>
                <a:cs typeface="Fira Sans"/>
                <a:sym typeface="Fira Sans"/>
              </a:rPr>
              <a:t>데이터 병합</a:t>
            </a:r>
            <a:endParaRPr sz="10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4" name="Google Shape;804;p80"/>
          <p:cNvSpPr txBox="1"/>
          <p:nvPr/>
        </p:nvSpPr>
        <p:spPr>
          <a:xfrm>
            <a:off x="311573" y="2229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Amazon Easystore 위치 제안</a:t>
            </a:r>
            <a:r>
              <a:rPr lang="ko" sz="25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9" name="Google Shape;809;p81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810" name="Google Shape;810;p81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81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2" name="Google Shape;812;p81"/>
          <p:cNvSpPr txBox="1"/>
          <p:nvPr/>
        </p:nvSpPr>
        <p:spPr>
          <a:xfrm>
            <a:off x="353200" y="800175"/>
            <a:ext cx="4224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2. 인구대비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매출비율이 낮은 지역에 위치 제안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13" name="Google Shape;813;p8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5198500" y="2582325"/>
            <a:ext cx="3284100" cy="2313000"/>
          </a:xfrm>
          <a:prstGeom prst="roundRect">
            <a:avLst>
              <a:gd fmla="val 1583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814" name="Google Shape;814;p81"/>
          <p:cNvSpPr txBox="1"/>
          <p:nvPr/>
        </p:nvSpPr>
        <p:spPr>
          <a:xfrm>
            <a:off x="812900" y="4197575"/>
            <a:ext cx="1582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500" y="2582315"/>
            <a:ext cx="3562500" cy="2299500"/>
          </a:xfrm>
          <a:prstGeom prst="roundRect">
            <a:avLst>
              <a:gd fmla="val 1738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816" name="Google Shape;816;p81"/>
          <p:cNvSpPr txBox="1"/>
          <p:nvPr/>
        </p:nvSpPr>
        <p:spPr>
          <a:xfrm>
            <a:off x="353200" y="1182675"/>
            <a:ext cx="81294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주 별 인구대비 매출비율 확인 결과, 고아 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지역이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43.3%로 가장 높았고 비하르 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지역이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1.32%로 가장 낮은 것을 확인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매출비율이 낮은 지역은 대체적으로 인구수가 많은 경향을 보임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매출비율이 낮은 지역을 중심으로 Amazon Easyst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ore 위치를 제안하여, 미래 고객 확보 및 점유율 확대 기대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7" name="Google Shape;817;p81"/>
          <p:cNvSpPr txBox="1"/>
          <p:nvPr/>
        </p:nvSpPr>
        <p:spPr>
          <a:xfrm>
            <a:off x="311573" y="2229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Amazon Easystore 위치 제안</a:t>
            </a:r>
            <a:r>
              <a:rPr lang="ko" sz="25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82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5113350" y="2607775"/>
            <a:ext cx="3284100" cy="2309100"/>
          </a:xfrm>
          <a:prstGeom prst="roundRect">
            <a:avLst>
              <a:gd fmla="val 1583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pic>
        <p:nvPicPr>
          <p:cNvPr id="823" name="Google Shape;823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500" y="2614369"/>
            <a:ext cx="3562500" cy="2295900"/>
          </a:xfrm>
          <a:prstGeom prst="roundRect">
            <a:avLst>
              <a:gd fmla="val 1738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grpSp>
        <p:nvGrpSpPr>
          <p:cNvPr id="824" name="Google Shape;824;p82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825" name="Google Shape;825;p82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82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7" name="Google Shape;827;p82"/>
          <p:cNvSpPr txBox="1"/>
          <p:nvPr/>
        </p:nvSpPr>
        <p:spPr>
          <a:xfrm>
            <a:off x="311575" y="800175"/>
            <a:ext cx="4224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3. </a:t>
            </a: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인구대비 시골인구 비율이 높은 지역에 위치 제안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82"/>
          <p:cNvSpPr txBox="1"/>
          <p:nvPr/>
        </p:nvSpPr>
        <p:spPr>
          <a:xfrm>
            <a:off x="812900" y="4197575"/>
            <a:ext cx="1582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82"/>
          <p:cNvSpPr txBox="1"/>
          <p:nvPr/>
        </p:nvSpPr>
        <p:spPr>
          <a:xfrm>
            <a:off x="438450" y="1182675"/>
            <a:ext cx="81363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주 별 인구대비 시골인구 비율 확인 결과, 히마찰프라데시 지역이 89.8%로 가장 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높은 비율을 보였고,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찬디가르 지역이 2.7%로 가장 낮은 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것을 확인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대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다수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지역에서 시골인구가 도시인구보다 많은 것을 확인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시골인구 비율이 높은 지역을 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중심으로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Amazon Easystore 위치를 제안하여, 전자상거래에 익숙 하지 않은 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고객들 대상으로 미래 고객 확보 및 점유율 확대 기대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0" name="Google Shape;830;p82"/>
          <p:cNvSpPr txBox="1"/>
          <p:nvPr/>
        </p:nvSpPr>
        <p:spPr>
          <a:xfrm>
            <a:off x="311573" y="2229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제안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Amazon Easystore 위치 제안</a:t>
            </a:r>
            <a:r>
              <a:rPr lang="ko" sz="25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83"/>
          <p:cNvSpPr/>
          <p:nvPr/>
        </p:nvSpPr>
        <p:spPr>
          <a:xfrm>
            <a:off x="-200025" y="-2447245"/>
            <a:ext cx="9543900" cy="4265700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6" name="Google Shape;836;p83"/>
          <p:cNvGrpSpPr/>
          <p:nvPr/>
        </p:nvGrpSpPr>
        <p:grpSpPr>
          <a:xfrm>
            <a:off x="704774" y="773597"/>
            <a:ext cx="7732669" cy="1368502"/>
            <a:chOff x="3311855" y="3736152"/>
            <a:chExt cx="4122991" cy="928050"/>
          </a:xfrm>
        </p:grpSpPr>
        <p:sp>
          <p:nvSpPr>
            <p:cNvPr id="837" name="Google Shape;837;p83"/>
            <p:cNvSpPr/>
            <p:nvPr/>
          </p:nvSpPr>
          <p:spPr>
            <a:xfrm>
              <a:off x="3311855" y="3817376"/>
              <a:ext cx="3757030" cy="846826"/>
            </a:xfrm>
            <a:custGeom>
              <a:rect b="b" l="l" r="r" t="t"/>
              <a:pathLst>
                <a:path extrusionOk="0" h="1039050" w="4609853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83"/>
            <p:cNvSpPr/>
            <p:nvPr/>
          </p:nvSpPr>
          <p:spPr>
            <a:xfrm>
              <a:off x="6662590" y="3736152"/>
              <a:ext cx="772256" cy="760602"/>
            </a:xfrm>
            <a:custGeom>
              <a:rect b="b" l="l" r="r" t="t"/>
              <a:pathLst>
                <a:path extrusionOk="0" h="933254" w="947553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9" name="Google Shape;839;p83"/>
          <p:cNvSpPr txBox="1"/>
          <p:nvPr/>
        </p:nvSpPr>
        <p:spPr>
          <a:xfrm>
            <a:off x="679346" y="3577837"/>
            <a:ext cx="7785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결론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83"/>
          <p:cNvSpPr txBox="1"/>
          <p:nvPr/>
        </p:nvSpPr>
        <p:spPr>
          <a:xfrm>
            <a:off x="3219284" y="2780550"/>
            <a:ext cx="2705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1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Chapter 4.</a:t>
            </a:r>
            <a:endParaRPr sz="4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p84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846" name="Google Shape;846;p84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84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8" name="Google Shape;848;p84"/>
          <p:cNvSpPr txBox="1"/>
          <p:nvPr/>
        </p:nvSpPr>
        <p:spPr>
          <a:xfrm>
            <a:off x="5885563" y="215634"/>
            <a:ext cx="1458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49" name="Google Shape;849;p84"/>
          <p:cNvSpPr/>
          <p:nvPr/>
        </p:nvSpPr>
        <p:spPr>
          <a:xfrm>
            <a:off x="438450" y="1037375"/>
            <a:ext cx="3833400" cy="1812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4"/>
          <p:cNvSpPr/>
          <p:nvPr/>
        </p:nvSpPr>
        <p:spPr>
          <a:xfrm>
            <a:off x="4698175" y="1037375"/>
            <a:ext cx="3833400" cy="1812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84"/>
          <p:cNvSpPr/>
          <p:nvPr/>
        </p:nvSpPr>
        <p:spPr>
          <a:xfrm>
            <a:off x="438450" y="3123775"/>
            <a:ext cx="3833400" cy="1812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84"/>
          <p:cNvSpPr/>
          <p:nvPr/>
        </p:nvSpPr>
        <p:spPr>
          <a:xfrm>
            <a:off x="4698175" y="3123775"/>
            <a:ext cx="3833400" cy="194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84"/>
          <p:cNvSpPr/>
          <p:nvPr/>
        </p:nvSpPr>
        <p:spPr>
          <a:xfrm>
            <a:off x="273775" y="814475"/>
            <a:ext cx="560100" cy="535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2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84"/>
          <p:cNvSpPr txBox="1"/>
          <p:nvPr/>
        </p:nvSpPr>
        <p:spPr>
          <a:xfrm>
            <a:off x="379225" y="779225"/>
            <a:ext cx="349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84"/>
          <p:cNvSpPr/>
          <p:nvPr/>
        </p:nvSpPr>
        <p:spPr>
          <a:xfrm>
            <a:off x="4572000" y="832100"/>
            <a:ext cx="560100" cy="535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2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84"/>
          <p:cNvSpPr txBox="1"/>
          <p:nvPr/>
        </p:nvSpPr>
        <p:spPr>
          <a:xfrm>
            <a:off x="4677450" y="814475"/>
            <a:ext cx="454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84"/>
          <p:cNvSpPr/>
          <p:nvPr/>
        </p:nvSpPr>
        <p:spPr>
          <a:xfrm>
            <a:off x="273775" y="2940825"/>
            <a:ext cx="560100" cy="535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2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84"/>
          <p:cNvSpPr txBox="1"/>
          <p:nvPr/>
        </p:nvSpPr>
        <p:spPr>
          <a:xfrm>
            <a:off x="379225" y="2905575"/>
            <a:ext cx="454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84"/>
          <p:cNvSpPr/>
          <p:nvPr/>
        </p:nvSpPr>
        <p:spPr>
          <a:xfrm>
            <a:off x="4572000" y="2958450"/>
            <a:ext cx="560100" cy="5358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2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84"/>
          <p:cNvSpPr txBox="1"/>
          <p:nvPr/>
        </p:nvSpPr>
        <p:spPr>
          <a:xfrm>
            <a:off x="4677450" y="2923200"/>
            <a:ext cx="454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833875" y="1037375"/>
            <a:ext cx="15192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분석결과</a:t>
            </a:r>
            <a:endParaRPr b="1" sz="15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2" name="Google Shape;862;p84"/>
          <p:cNvSpPr txBox="1"/>
          <p:nvPr/>
        </p:nvSpPr>
        <p:spPr>
          <a:xfrm>
            <a:off x="670625" y="1342900"/>
            <a:ext cx="34347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월별 매출액이 지속적으로 감소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promotion 은 정(+)의 상관관계, ship_status 는 부(-)의 상관관계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Set, kurta, western dress 등에서 높은 매출액 비중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고객들이 복수상품을 구매하는 것이 아니라 단일상품만 구매하는 패턴이 높다는 것을 확인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84"/>
          <p:cNvSpPr txBox="1"/>
          <p:nvPr/>
        </p:nvSpPr>
        <p:spPr>
          <a:xfrm>
            <a:off x="5131950" y="1037375"/>
            <a:ext cx="3132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추천 시스템, 고객의 재구매율 개선</a:t>
            </a:r>
            <a:endParaRPr b="1" sz="15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4" name="Google Shape;864;p84"/>
          <p:cNvSpPr txBox="1"/>
          <p:nvPr/>
        </p:nvSpPr>
        <p:spPr>
          <a:xfrm>
            <a:off x="4897525" y="1396713"/>
            <a:ext cx="34347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</a:rPr>
              <a:t>장바구니 분석 결과를 보면 복수상품 구매 수가 현저히 낮은것을 확인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</a:t>
            </a:r>
            <a:r>
              <a:rPr lang="ko" sz="1100">
                <a:solidFill>
                  <a:schemeClr val="dk1"/>
                </a:solidFill>
              </a:rPr>
              <a:t>추천 시스템을 통해 기존 고객들의 재구매, 복수 구매율 상승으로 매출 상승도 기대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추천으로 인한 고객들의 구매를 지속적으로 모니터링 하여 추천 시스템을 보완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84"/>
          <p:cNvSpPr txBox="1"/>
          <p:nvPr/>
        </p:nvSpPr>
        <p:spPr>
          <a:xfrm>
            <a:off x="833875" y="3123775"/>
            <a:ext cx="2763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WareHouse 추가 설치 제안</a:t>
            </a:r>
            <a:endParaRPr b="1" sz="15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6" name="Google Shape;866;p84"/>
          <p:cNvSpPr txBox="1"/>
          <p:nvPr/>
        </p:nvSpPr>
        <p:spPr>
          <a:xfrm>
            <a:off x="670625" y="3494250"/>
            <a:ext cx="34347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웨어하우스 확장은 아마존 직접 배송량을 증가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주문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취소율을 줄일 수 있어 매출 상승을 기대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물류 프로세스 최적화, 운영 비용 감소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소비자 중심지에 창고를 전략적으로 위치시킴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배송 시간을 단축시킬 수 있어 고객 만족도와 충성도를 높일수 있음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84"/>
          <p:cNvSpPr txBox="1"/>
          <p:nvPr/>
        </p:nvSpPr>
        <p:spPr>
          <a:xfrm>
            <a:off x="5132100" y="3123775"/>
            <a:ext cx="2763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Amazon Easystore 위치 제안</a:t>
            </a:r>
            <a:endParaRPr b="1" sz="15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8" name="Google Shape;868;p84"/>
          <p:cNvSpPr txBox="1"/>
          <p:nvPr/>
        </p:nvSpPr>
        <p:spPr>
          <a:xfrm>
            <a:off x="4981050" y="3494250"/>
            <a:ext cx="3434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온라인 쇼핑에 경험이 없는 고객들을 대상으로 경험 제공을 통해 미래 고객 확보 및 점유율 확대 기대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지역 소비자들에게 접근성 향상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시골 지역에서의 전자상거래 발전에 기여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875" y="309075"/>
            <a:ext cx="386651" cy="386651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84"/>
          <p:cNvSpPr txBox="1"/>
          <p:nvPr/>
        </p:nvSpPr>
        <p:spPr>
          <a:xfrm>
            <a:off x="311573" y="2229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결론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인사이트</a:t>
            </a:r>
            <a:r>
              <a:rPr lang="ko" sz="25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5" name="Google Shape;875;p85"/>
          <p:cNvGrpSpPr/>
          <p:nvPr/>
        </p:nvGrpSpPr>
        <p:grpSpPr>
          <a:xfrm>
            <a:off x="8219840" y="-691932"/>
            <a:ext cx="1582340" cy="1729312"/>
            <a:chOff x="10578244" y="-1141719"/>
            <a:chExt cx="2952128" cy="3226328"/>
          </a:xfrm>
        </p:grpSpPr>
        <p:sp>
          <p:nvSpPr>
            <p:cNvPr id="876" name="Google Shape;876;p85"/>
            <p:cNvSpPr/>
            <p:nvPr/>
          </p:nvSpPr>
          <p:spPr>
            <a:xfrm flipH="1" rot="-2162217">
              <a:off x="11555808" y="-605004"/>
              <a:ext cx="1251501" cy="221136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85"/>
            <p:cNvSpPr/>
            <p:nvPr/>
          </p:nvSpPr>
          <p:spPr>
            <a:xfrm flipH="1" rot="-2162092">
              <a:off x="11254564" y="-940488"/>
              <a:ext cx="1599488" cy="2823867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noFill/>
            <a:ln cap="rnd" cmpd="sng" w="38100">
              <a:solidFill>
                <a:srgbClr val="FF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8" name="Google Shape;878;p85"/>
          <p:cNvSpPr txBox="1"/>
          <p:nvPr/>
        </p:nvSpPr>
        <p:spPr>
          <a:xfrm>
            <a:off x="438450" y="2076325"/>
            <a:ext cx="5394300" cy="2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Amazon Box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공중전화 박스의 형태로, 온라인 쇼핑을 이용할 수 없는 사용자들을 위해 온라인 쇼핑을 간편하게 이용할 수 있는 환경을 제공함으로써 숨은 고객을 확보하여 매출 상승 및 점유율 확대 기대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그 밖의 특징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84200" lvl="0" marL="338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넓은 반경에 분포시켜 접근성 용이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84200" lvl="0" marL="338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숨은 고객뿐 아니라 기존 고객들에게도 편의 제공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84200" lvl="0" marL="338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거리에 배치되어 시각적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인</a:t>
            </a: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브랜드 노출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84200" lvl="0" marL="338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외부의 디지털 스크린을 통한 제품 홍보 가능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84200" lvl="0" marL="338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긴급 대피장소로 사용 가능하여 브랜드 이미지 상승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9" name="Google Shape;87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550" y="346272"/>
            <a:ext cx="321367" cy="4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85"/>
          <p:cNvSpPr txBox="1"/>
          <p:nvPr/>
        </p:nvSpPr>
        <p:spPr>
          <a:xfrm>
            <a:off x="438450" y="800175"/>
            <a:ext cx="4224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문제점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1" name="Google Shape;881;p85"/>
          <p:cNvSpPr txBox="1"/>
          <p:nvPr/>
        </p:nvSpPr>
        <p:spPr>
          <a:xfrm>
            <a:off x="438450" y="1182675"/>
            <a:ext cx="81294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인터넷과 스마트폰의 보급률이 증가하고 있지만, 여전히 많은 사용자들이 피처폰을 사용 하고 있음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2599" lvl="0" marL="280799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</a:pPr>
            <a:r>
              <a:rPr lang="ko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인터넷 접근이 가능하더라도 선불요금제를 사용하는 사용자들은 인터넷 쇼핑에 어려움을 겪고 있으며, 후불 요금제를 사용하는 경제력이 있어야 인터넷 쇼핑을 할 수 있는 구매력을 가짐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82" name="Google Shape;88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475" y="1798950"/>
            <a:ext cx="3522350" cy="3522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400000" dist="95250">
              <a:srgbClr val="000000">
                <a:alpha val="20000"/>
              </a:srgbClr>
            </a:outerShdw>
          </a:effectLst>
        </p:spPr>
      </p:pic>
      <p:sp>
        <p:nvSpPr>
          <p:cNvPr id="883" name="Google Shape;883;p85"/>
          <p:cNvSpPr txBox="1"/>
          <p:nvPr/>
        </p:nvSpPr>
        <p:spPr>
          <a:xfrm>
            <a:off x="311573" y="222975"/>
            <a:ext cx="5873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결론</a:t>
            </a: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ko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아이디어 제안</a:t>
            </a:r>
            <a:r>
              <a:rPr lang="ko" sz="25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6"/>
          <p:cNvSpPr txBox="1"/>
          <p:nvPr/>
        </p:nvSpPr>
        <p:spPr>
          <a:xfrm>
            <a:off x="1781869" y="226334"/>
            <a:ext cx="5583338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참고 자료</a:t>
            </a:r>
            <a:endParaRPr sz="33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89" name="Google Shape;889;p86"/>
          <p:cNvSpPr/>
          <p:nvPr/>
        </p:nvSpPr>
        <p:spPr>
          <a:xfrm>
            <a:off x="299050" y="1051250"/>
            <a:ext cx="8609400" cy="39060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86"/>
          <p:cNvSpPr txBox="1"/>
          <p:nvPr/>
        </p:nvSpPr>
        <p:spPr>
          <a:xfrm>
            <a:off x="745950" y="1193750"/>
            <a:ext cx="78573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주제 선정 배경</a:t>
            </a:r>
            <a:endParaRPr b="1" sz="8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hlinkClick r:id="rId3"/>
              </a:rPr>
              <a:t>https://asia.nikkei.com/Business/Business-Spotlight/Amazon-falls-behind-Walmart-in-battle-for-India-s-online-shoppers</a:t>
            </a:r>
            <a:br>
              <a:rPr lang="ko" sz="800">
                <a:solidFill>
                  <a:schemeClr val="dk1"/>
                </a:solidFill>
              </a:rPr>
            </a:br>
            <a:r>
              <a:rPr lang="ko" sz="800" u="sng">
                <a:solidFill>
                  <a:schemeClr val="hlink"/>
                </a:solidFill>
                <a:hlinkClick r:id="rId4"/>
              </a:rPr>
              <a:t>https://stockarea.io/blogs/amazon-vs-flipkart-who-is-dominating-indian-ecommerce/</a:t>
            </a:r>
            <a:br>
              <a:rPr lang="ko" sz="800">
                <a:solidFill>
                  <a:schemeClr val="dk1"/>
                </a:solidFill>
              </a:rPr>
            </a:br>
            <a:r>
              <a:rPr lang="ko" sz="800" u="sng">
                <a:solidFill>
                  <a:schemeClr val="hlink"/>
                </a:solidFill>
                <a:hlinkClick r:id="rId5"/>
              </a:rPr>
              <a:t>https://www.emerics.org:446/businessDetail.es?brdctsNo=304210&amp;mid=a30400000000&amp;search_option=&amp;search_keyword=&amp;search_year=&amp;search_month=&amp;search_tagkeyword=&amp;systemcode=02&amp;search_region=&amp;search_area=&amp;currentPage=1&amp;pageCnt=10</a:t>
            </a:r>
            <a:br>
              <a:rPr lang="ko" sz="800">
                <a:solidFill>
                  <a:schemeClr val="dk1"/>
                </a:solidFill>
              </a:rPr>
            </a:br>
            <a:r>
              <a:rPr lang="ko" sz="800">
                <a:solidFill>
                  <a:schemeClr val="dk1"/>
                </a:solidFill>
              </a:rPr>
              <a:t>https://kosis.kr/statHtml/statHtml.do?orgId=101&amp;tblId=DT_2KAAA13</a:t>
            </a:r>
            <a:endParaRPr sz="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시스템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https://pabii.com/news/256268/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https://medium.com/@dev-tech/bigin-recommender-system-1c809c1fcd23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https://uoahvu.tistory.com/entry/Matrix-Factorization-%EA%B0%9C%EC%9A%94%EC%99%80-%EC%9B%90%EB%A6%AC%EB%B6%80%ED%84%B0-%EC%B5%9C%EC%A0%81%ED%99%94SGD-ALS%EA%B9%8C%EC%A7%80-%EC%9D%B4%ED%95%B4%ED%95%98%EA%B8%B0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https://chrisjune-13837.medium.com/%EB%A7%8C%EB%93%A4%EB%A9%B0-%EB%B0%B0%EC%9A%B0%EB%8A%94-%EC%B6%94%EC%B2%9C%EC%8B%9C%EC%8A%A4%ED%85%9C-neural-collaborative-filtering-ncf-%EB%9E%80-6dc8e2a02bb6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https://github.com/chrisjune/pytorch-tutorials/blob/master/collaborative-filtering-nn.ipynb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https://itforfun.tistory.com/195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장바구니 분석</a:t>
            </a: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벤자민 존스턴, 애런 존스, 크리스토퍼 크루거, ≪파이썬을 활용한 비지도 학습≫,에이콘, 2020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선형회귀 분석</a:t>
            </a:r>
            <a:r>
              <a:rPr lang="ko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플로랑 뷔송, ≪행동데이터 분석≫,한빛미디어,2023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아이디어 배경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</a:pPr>
            <a:r>
              <a:rPr lang="ko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https://india-kor.tistory.com/entry/%EC%9D%B8%EB%8F%84-%EC%A0%84%EC%9E%90%EC%83%81%EA%B1%B0%EB%9E%98-%EC%8B%9C%EC%9E%A5-%EC%9D%B4%EC%BB%A4%EB%A8%B8%EC%8A%A4%EC%9D%B8%ED%84%B0%EB%84%B7%EC%87%BC%ED%95%91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7"/>
          <p:cNvSpPr/>
          <p:nvPr/>
        </p:nvSpPr>
        <p:spPr>
          <a:xfrm rot="5400000">
            <a:off x="7409122" y="2411953"/>
            <a:ext cx="2487518" cy="3626267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3226808" y="2075460"/>
            <a:ext cx="2704106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thanks!</a:t>
            </a:r>
            <a:endParaRPr sz="5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97" name="Google Shape;897;p87"/>
          <p:cNvSpPr/>
          <p:nvPr/>
        </p:nvSpPr>
        <p:spPr>
          <a:xfrm>
            <a:off x="8060401" y="3721231"/>
            <a:ext cx="1083599" cy="1007710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8" name="Google Shape;898;p87"/>
          <p:cNvGrpSpPr/>
          <p:nvPr/>
        </p:nvGrpSpPr>
        <p:grpSpPr>
          <a:xfrm>
            <a:off x="-3127705" y="-2296799"/>
            <a:ext cx="6438080" cy="6236249"/>
            <a:chOff x="-3350613" y="-3018856"/>
            <a:chExt cx="8584107" cy="8314998"/>
          </a:xfrm>
        </p:grpSpPr>
        <p:sp>
          <p:nvSpPr>
            <p:cNvPr id="899" name="Google Shape;899;p87"/>
            <p:cNvSpPr/>
            <p:nvPr/>
          </p:nvSpPr>
          <p:spPr>
            <a:xfrm rot="2476041">
              <a:off x="-634236" y="-2254131"/>
              <a:ext cx="4024137" cy="7105531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87"/>
            <p:cNvSpPr/>
            <p:nvPr/>
          </p:nvSpPr>
          <p:spPr>
            <a:xfrm rot="3140551">
              <a:off x="-1320786" y="-2808187"/>
              <a:ext cx="4024137" cy="7105531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87"/>
            <p:cNvSpPr/>
            <p:nvPr/>
          </p:nvSpPr>
          <p:spPr>
            <a:xfrm rot="8901965">
              <a:off x="3130551" y="555042"/>
              <a:ext cx="1370251" cy="1274286"/>
            </a:xfrm>
            <a:custGeom>
              <a:rect b="b" l="l" r="r" t="t"/>
              <a:pathLst>
                <a:path extrusionOk="0" h="1343613" w="1444799">
                  <a:moveTo>
                    <a:pt x="1051454" y="206792"/>
                  </a:moveTo>
                  <a:cubicBezTo>
                    <a:pt x="1128607" y="309663"/>
                    <a:pt x="1171469" y="411580"/>
                    <a:pt x="1253384" y="532548"/>
                  </a:cubicBezTo>
                  <a:cubicBezTo>
                    <a:pt x="1336252" y="652563"/>
                    <a:pt x="1457219" y="791628"/>
                    <a:pt x="1443884" y="904023"/>
                  </a:cubicBezTo>
                  <a:cubicBezTo>
                    <a:pt x="1430549" y="1016418"/>
                    <a:pt x="1282912" y="1102143"/>
                    <a:pt x="1145752" y="1165960"/>
                  </a:cubicBezTo>
                  <a:cubicBezTo>
                    <a:pt x="1008591" y="1228825"/>
                    <a:pt x="880956" y="1269783"/>
                    <a:pt x="728556" y="1305025"/>
                  </a:cubicBezTo>
                  <a:cubicBezTo>
                    <a:pt x="575204" y="1340268"/>
                    <a:pt x="397086" y="1370748"/>
                    <a:pt x="267546" y="1305025"/>
                  </a:cubicBezTo>
                  <a:cubicBezTo>
                    <a:pt x="138959" y="1239303"/>
                    <a:pt x="58949" y="1076425"/>
                    <a:pt x="21801" y="912595"/>
                  </a:cubicBezTo>
                  <a:cubicBezTo>
                    <a:pt x="-14394" y="748765"/>
                    <a:pt x="-8679" y="583030"/>
                    <a:pt x="64664" y="463968"/>
                  </a:cubicBezTo>
                  <a:cubicBezTo>
                    <a:pt x="138006" y="345858"/>
                    <a:pt x="278976" y="274420"/>
                    <a:pt x="405659" y="187742"/>
                  </a:cubicBezTo>
                  <a:cubicBezTo>
                    <a:pt x="531389" y="101065"/>
                    <a:pt x="642831" y="100"/>
                    <a:pt x="753321" y="100"/>
                  </a:cubicBezTo>
                  <a:cubicBezTo>
                    <a:pt x="864764" y="1052"/>
                    <a:pt x="974301" y="104875"/>
                    <a:pt x="1051454" y="206792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2" name="Google Shape;902;p87"/>
          <p:cNvSpPr/>
          <p:nvPr/>
        </p:nvSpPr>
        <p:spPr>
          <a:xfrm>
            <a:off x="3477455" y="2900537"/>
            <a:ext cx="1478907" cy="276281"/>
          </a:xfrm>
          <a:custGeom>
            <a:rect b="b" l="l" r="r" t="t"/>
            <a:pathLst>
              <a:path extrusionOk="0" h="1039050" w="4609853">
                <a:moveTo>
                  <a:pt x="4569032" y="413392"/>
                </a:moveTo>
                <a:cubicBezTo>
                  <a:pt x="4015524" y="821376"/>
                  <a:pt x="3213233" y="1039051"/>
                  <a:pt x="2522490" y="1039051"/>
                </a:cubicBezTo>
                <a:cubicBezTo>
                  <a:pt x="1553940" y="1039051"/>
                  <a:pt x="682003" y="680825"/>
                  <a:pt x="22339" y="85017"/>
                </a:cubicBezTo>
                <a:cubicBezTo>
                  <a:pt x="-29486" y="38164"/>
                  <a:pt x="16958" y="-25682"/>
                  <a:pt x="79146" y="10798"/>
                </a:cubicBezTo>
                <a:cubicBezTo>
                  <a:pt x="791045" y="425003"/>
                  <a:pt x="1671279" y="674186"/>
                  <a:pt x="2580535" y="674186"/>
                </a:cubicBezTo>
                <a:cubicBezTo>
                  <a:pt x="3193755" y="674186"/>
                  <a:pt x="3868334" y="547313"/>
                  <a:pt x="4488602" y="284033"/>
                </a:cubicBezTo>
                <a:cubicBezTo>
                  <a:pt x="4582300" y="244228"/>
                  <a:pt x="4660662" y="345393"/>
                  <a:pt x="4569032" y="413392"/>
                </a:cubicBezTo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87"/>
          <p:cNvSpPr/>
          <p:nvPr/>
        </p:nvSpPr>
        <p:spPr>
          <a:xfrm>
            <a:off x="4795097" y="2874065"/>
            <a:ext cx="303989" cy="248149"/>
          </a:xfrm>
          <a:custGeom>
            <a:rect b="b" l="l" r="r" t="t"/>
            <a:pathLst>
              <a:path extrusionOk="0" h="933254" w="947553">
                <a:moveTo>
                  <a:pt x="691963" y="249669"/>
                </a:moveTo>
                <a:cubicBezTo>
                  <a:pt x="621477" y="159286"/>
                  <a:pt x="224275" y="206968"/>
                  <a:pt x="45996" y="228114"/>
                </a:cubicBezTo>
                <a:cubicBezTo>
                  <a:pt x="-8325" y="234743"/>
                  <a:pt x="-16612" y="187480"/>
                  <a:pt x="32309" y="153476"/>
                </a:cubicBezTo>
                <a:cubicBezTo>
                  <a:pt x="348663" y="-69171"/>
                  <a:pt x="867765" y="-4906"/>
                  <a:pt x="928297" y="69723"/>
                </a:cubicBezTo>
                <a:cubicBezTo>
                  <a:pt x="988828" y="144770"/>
                  <a:pt x="912543" y="665111"/>
                  <a:pt x="615258" y="913476"/>
                </a:cubicBezTo>
                <a:cubicBezTo>
                  <a:pt x="569652" y="951614"/>
                  <a:pt x="526123" y="931297"/>
                  <a:pt x="546430" y="880719"/>
                </a:cubicBezTo>
                <a:cubicBezTo>
                  <a:pt x="613191" y="714041"/>
                  <a:pt x="762866" y="340471"/>
                  <a:pt x="691963" y="249669"/>
                </a:cubicBezTo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